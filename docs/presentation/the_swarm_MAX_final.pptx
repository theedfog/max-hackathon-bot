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8e30be6f8246ae" /><Relationship Type="http://schemas.openxmlformats.org/officeDocument/2006/relationships/extended-properties" Target="/docProps/app.xml" Id="R3a3aebfeeedd4e7b" /><Relationship Type="http://schemas.openxmlformats.org/officeDocument/2006/relationships/officeDocument" Target="/ppt/presentation.xml" Id="Rd009cd0c3cc84799" /></Relationships>
</file>

<file path=ppt/presentation.xml><?xml version="1.0" encoding="utf-8"?>
<p:presentation xmlns:p="http://schemas.openxmlformats.org/presentationml/2006/main">
  <p:sldMasterIdLst>
    <p:sldMasterId xmlns:r="http://schemas.openxmlformats.org/officeDocument/2006/relationships" id="2147483648" r:id="R215e1c8e80c7445b"/>
  </p:sldMasterIdLst>
  <p:notesMasterIdLst>
    <p:notesMasterId xmlns:r="http://schemas.openxmlformats.org/officeDocument/2006/relationships" r:id="Rd3aca768829c41cd"/>
  </p:notesMasterIdLst>
  <p:sldIdLst>
    <p:sldId xmlns:r="http://schemas.openxmlformats.org/officeDocument/2006/relationships" id="256" r:id="Ref4d03626a7c4e8c"/>
    <p:sldId xmlns:r="http://schemas.openxmlformats.org/officeDocument/2006/relationships" id="257" r:id="Rb0a8f0e82ecf4006"/>
    <p:sldId xmlns:r="http://schemas.openxmlformats.org/officeDocument/2006/relationships" id="258" r:id="R9df3751988664ccd"/>
    <p:sldId xmlns:r="http://schemas.openxmlformats.org/officeDocument/2006/relationships" id="259" r:id="R152b677108cd4457"/>
    <p:sldId xmlns:r="http://schemas.openxmlformats.org/officeDocument/2006/relationships" id="260" r:id="R12d9f68786064aec"/>
    <p:sldId xmlns:r="http://schemas.openxmlformats.org/officeDocument/2006/relationships" id="261" r:id="Re084d01ac5f2448b"/>
    <p:sldId xmlns:r="http://schemas.openxmlformats.org/officeDocument/2006/relationships" id="262" r:id="Rce9f1399caac490a"/>
    <p:sldId xmlns:r="http://schemas.openxmlformats.org/officeDocument/2006/relationships" id="263" r:id="Rf0363d4c2dc2404e"/>
    <p:sldId xmlns:r="http://schemas.openxmlformats.org/officeDocument/2006/relationships" id="264" r:id="R61912b2845864f52"/>
    <p:sldId xmlns:r="http://schemas.openxmlformats.org/officeDocument/2006/relationships" id="265" r:id="Rd09c552172554118"/>
    <p:sldId xmlns:r="http://schemas.openxmlformats.org/officeDocument/2006/relationships" id="266" r:id="R7f5d5742ab3749a5"/>
    <p:sldId xmlns:r="http://schemas.openxmlformats.org/officeDocument/2006/relationships" id="267" r:id="R98535f9fa8f249f7"/>
    <p:sldId xmlns:r="http://schemas.openxmlformats.org/officeDocument/2006/relationships" id="268" r:id="Ra82fa6e8a9d34164"/>
    <p:sldId xmlns:r="http://schemas.openxmlformats.org/officeDocument/2006/relationships" id="269" r:id="Re0eb12557b2d48d8"/>
    <p:sldId xmlns:r="http://schemas.openxmlformats.org/officeDocument/2006/relationships" id="270" r:id="R2f779c6a45f14391"/>
    <p:sldId xmlns:r="http://schemas.openxmlformats.org/officeDocument/2006/relationships" id="271" r:id="Rf184b0a9dfce4b65"/>
    <p:sldId xmlns:r="http://schemas.openxmlformats.org/officeDocument/2006/relationships" id="272" r:id="R5d75167811c045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f4b5ba40524459" /><Relationship Type="http://schemas.openxmlformats.org/officeDocument/2006/relationships/slideMaster" Target="/ppt/slideMasters/slideMaster1.xml" Id="R215e1c8e80c7445b" /><Relationship Type="http://schemas.openxmlformats.org/officeDocument/2006/relationships/notesMaster" Target="/ppt/notesMasters/notesMaster1.xml" Id="Rd3aca768829c41cd" /><Relationship Type="http://schemas.openxmlformats.org/officeDocument/2006/relationships/presProps" Target="/ppt/presProps.xml" Id="R6604fca41b2c48eb" /><Relationship Type="http://schemas.openxmlformats.org/officeDocument/2006/relationships/tableStyles" Target="/ppt/tableStyles.xml" Id="Rb57b8a105ddc438f" /><Relationship Type="http://schemas.openxmlformats.org/officeDocument/2006/relationships/slide" Target="/ppt/slides/slide1.xml" Id="Ref4d03626a7c4e8c" /><Relationship Type="http://schemas.openxmlformats.org/officeDocument/2006/relationships/slide" Target="/ppt/slides/slide2.xml" Id="Rb0a8f0e82ecf4006" /><Relationship Type="http://schemas.openxmlformats.org/officeDocument/2006/relationships/slide" Target="/ppt/slides/slide3.xml" Id="R9df3751988664ccd" /><Relationship Type="http://schemas.openxmlformats.org/officeDocument/2006/relationships/slide" Target="/ppt/slides/slide4.xml" Id="R152b677108cd4457" /><Relationship Type="http://schemas.openxmlformats.org/officeDocument/2006/relationships/slide" Target="/ppt/slides/slide5.xml" Id="R12d9f68786064aec" /><Relationship Type="http://schemas.openxmlformats.org/officeDocument/2006/relationships/slide" Target="/ppt/slides/slide6.xml" Id="Re084d01ac5f2448b" /><Relationship Type="http://schemas.openxmlformats.org/officeDocument/2006/relationships/slide" Target="/ppt/slides/slide7.xml" Id="Rce9f1399caac490a" /><Relationship Type="http://schemas.openxmlformats.org/officeDocument/2006/relationships/slide" Target="/ppt/slides/slide8.xml" Id="Rf0363d4c2dc2404e" /><Relationship Type="http://schemas.openxmlformats.org/officeDocument/2006/relationships/slide" Target="/ppt/slides/slide9.xml" Id="R61912b2845864f52" /><Relationship Type="http://schemas.openxmlformats.org/officeDocument/2006/relationships/slide" Target="/ppt/slides/slide10.xml" Id="Rd09c552172554118" /><Relationship Type="http://schemas.openxmlformats.org/officeDocument/2006/relationships/slide" Target="/ppt/slides/slide11.xml" Id="R7f5d5742ab3749a5" /><Relationship Type="http://schemas.openxmlformats.org/officeDocument/2006/relationships/slide" Target="/ppt/slides/slide12.xml" Id="R98535f9fa8f249f7" /><Relationship Type="http://schemas.openxmlformats.org/officeDocument/2006/relationships/slide" Target="/ppt/slides/slide13.xml" Id="Ra82fa6e8a9d34164" /><Relationship Type="http://schemas.openxmlformats.org/officeDocument/2006/relationships/slide" Target="/ppt/slides/slide14.xml" Id="Re0eb12557b2d48d8" /><Relationship Type="http://schemas.openxmlformats.org/officeDocument/2006/relationships/slide" Target="/ppt/slides/slide15.xml" Id="R2f779c6a45f14391" /><Relationship Type="http://schemas.openxmlformats.org/officeDocument/2006/relationships/slide" Target="/ppt/slides/slide16.xml" Id="Rf184b0a9dfce4b65" /><Relationship Type="http://schemas.openxmlformats.org/officeDocument/2006/relationships/slide" Target="/ppt/slides/slide17.xml" Id="R5d75167811c045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57e5adee2b40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094ecff03d47c5" /><Relationship Type="http://schemas.openxmlformats.org/officeDocument/2006/relationships/notesMaster" Target="/ppt/notesMasters/notesMaster1.xml" Id="R978aea3b7a8d4e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31730f96f14b26" /><Relationship Type="http://schemas.openxmlformats.org/officeDocument/2006/relationships/notesMaster" Target="/ppt/notesMasters/notesMaster1.xml" Id="R4254941bc2034b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f9e588643241db" /><Relationship Type="http://schemas.openxmlformats.org/officeDocument/2006/relationships/notesMaster" Target="/ppt/notesMasters/notesMaster1.xml" Id="Rf53c71d3cc504b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beaa26d52a4920" /><Relationship Type="http://schemas.openxmlformats.org/officeDocument/2006/relationships/notesMaster" Target="/ppt/notesMasters/notesMaster1.xml" Id="Rce8dc987dbf24f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40626bcd984253" /><Relationship Type="http://schemas.openxmlformats.org/officeDocument/2006/relationships/notesMaster" Target="/ppt/notesMasters/notesMaster1.xml" Id="Rd1900d750ed842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7d35c50b674255" /><Relationship Type="http://schemas.openxmlformats.org/officeDocument/2006/relationships/notesMaster" Target="/ppt/notesMasters/notesMaster1.xml" Id="R5df8026e207248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d9c59b06604caf" /><Relationship Type="http://schemas.openxmlformats.org/officeDocument/2006/relationships/notesMaster" Target="/ppt/notesMasters/notesMaster1.xml" Id="R17ef19547b574b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5aa9aaafd045ff" /><Relationship Type="http://schemas.openxmlformats.org/officeDocument/2006/relationships/notesMaster" Target="/ppt/notesMasters/notesMaster1.xml" Id="R8544fe68d2cb44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af2a5a17054dc6" /><Relationship Type="http://schemas.openxmlformats.org/officeDocument/2006/relationships/notesMaster" Target="/ppt/notesMasters/notesMaster1.xml" Id="R9b96db0c221c47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9e9e12aa6d47a6" /><Relationship Type="http://schemas.openxmlformats.org/officeDocument/2006/relationships/notesMaster" Target="/ppt/notesMasters/notesMaster1.xml" Id="R9a74556b45614c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bdfba2ce2f4649" /><Relationship Type="http://schemas.openxmlformats.org/officeDocument/2006/relationships/notesMaster" Target="/ppt/notesMasters/notesMaster1.xml" Id="R5b68ab85a74a46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b0a6ac17884a6f" /><Relationship Type="http://schemas.openxmlformats.org/officeDocument/2006/relationships/notesMaster" Target="/ppt/notesMasters/notesMaster1.xml" Id="Rd074bebf08c546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d6e63dc3ce483a" /><Relationship Type="http://schemas.openxmlformats.org/officeDocument/2006/relationships/notesMaster" Target="/ppt/notesMasters/notesMaster1.xml" Id="R715d391292a24b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f5fd1989074515" /><Relationship Type="http://schemas.openxmlformats.org/officeDocument/2006/relationships/notesMaster" Target="/ppt/notesMasters/notesMaster1.xml" Id="R559c0af75cb4405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4d2087058341ef" /><Relationship Type="http://schemas.openxmlformats.org/officeDocument/2006/relationships/notesMaster" Target="/ppt/notesMasters/notesMaster1.xml" Id="Rff173ea895e04b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4451c1d7c814c1f" /><Relationship Type="http://schemas.openxmlformats.org/officeDocument/2006/relationships/notesMaster" Target="/ppt/notesMasters/notesMaster1.xml" Id="R6cca69feb85941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d3b3c1b3299486b" /><Relationship Type="http://schemas.openxmlformats.org/officeDocument/2006/relationships/notesMaster" Target="/ppt/notesMasters/notesMaster1.xml" Id="Rae127537ba7e41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Не входит в пять минут защиты. Эта публичная копия безопасна для репозитория, но не заменяет закрытый технический комплект. После размещения вписать настоящий API и commit замороженной версии. Передать организаторам тестовые роли и значения окружения безопасным способом. Этот PDF пока нельзя считать полностью готовым к технической сдаче.</a:t>
            </a:r>
          </a:p>
          <a:p xmlns:a="http://schemas.openxmlformats.org/drawingml/2006/main">
            <a:r>
              <a:t/>
            </a:r>
          </a:p>
          <a:p xmlns:a="http://schemas.openxmlformats.org/drawingml/2006/main">
            <a:r>
              <a:t>Источники:</a:t>
            </a:r>
          </a:p>
          <a:p xmlns:a="http://schemas.openxmlformats.org/drawingml/2006/main">
            <a:r>
              <a:t>Кейс «Эффективный бизнес», стр. 10</a:t>
            </a:r>
          </a:p>
          <a:p xmlns:a="http://schemas.openxmlformats.org/drawingml/2006/main">
            <a:r>
              <a:t>Общий FAQ, пп. 10-12, 18</a:t>
            </a:r>
          </a:p>
          <a:p xmlns:a="http://schemas.openxmlformats.org/drawingml/2006/main">
            <a:r>
              <a:t>https://github.com/TheEdfog/max-hackathon-bot/blob/3aa7eaa9b9cff539c2544145727273b9fc792787/README.md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секунд. Мы команда the_swarm. РезюмИТ Найм помогает работодателю провести первичный разбор отклика прямо в MAX. Кандидат присылает опыт, отвечает на короткие уточнения и подтверждает приглашение. Рекрутер получает карточку с цитатами, а окончательное решение принимает сам.</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секунд. Приоритетный пользователь - рекрутер или руководитель небольшой IT-команды, который сам разбирает отклики. Мы проверяем гипотезу о потерях времени на повторные вопросы и перенос информации. Первый сценарий ограничен junior Python и аналитикой данных. Клиентский пилот ещё не проведён, поэтому мы не выдаём эту гипотезу за подтверждённую экономию.</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https://github.com/TheEdfog/max-hackathon-bot/blob/3aa7eaa9b9cff539c2544145727273b9fc792787/docs/PILOT.md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секунд. Работодатель не принимает автоматически извлечённые требования на веру: он подтверждает их перед публикацией. Кандидат видит согласие и может проверить импортированный текст. Затем идут только нужные уточнения. Вопросы можно пропустить, остановиться и продолжить позже. Рекрутер получает карточку и отправляет приглашение. Последний шаг - явное подтверждение интереса кандидатом. Отзыв доступен в течение сценария.</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https://github.com/TheEdfog/max-hackathon-bot/blob/3aa7eaa9b9cff539c2544145727273b9fc792787/hiring/bot.py</a:t>
            </a:r>
          </a:p>
          <a:p xmlns:a="http://schemas.openxmlformats.org/drawingml/2006/main">
            <a:r>
              <a:t>https://github.com/TheEdfog/max-hackathon-bot/blob/3aa7eaa9b9cff539c2544145727273b9fc792787/hiring/services.py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секунд. Это синтетический пример, а не данные реального кандидата. Синонимы питон и Python приводятся к одному навыку. PostgreSQL даёт лишь косвенный признак SQL. Явное отрицание учитывается отдельно. По каждому требованию можно открыть дословную цитату и уточнение. Процент покрытия - объяснение того, что написано в отклике, а не вероятность успешного найма. Мы не ранжируем людей автоматически.</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https://github.com/TheEdfog/max-hackathon-bot/blob/3aa7eaa9b9cff539c2544145727273b9fc792787/hiring/matching.py</a:t>
            </a:r>
          </a:p>
          <a:p xmlns:a="http://schemas.openxmlformats.org/drawingml/2006/main">
            <a:r>
              <a:t>https://github.com/TheEdfog/max-hackathon-bot/blob/3aa7eaa9b9cff539c2544145727273b9fc792787/hiring/compatibility.py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секунд. Тест можно создать вручную и повторно использовать. Изменение библиотеки не меняет уже опубликованную вакансию. Для подготовки черновика внутренний HR API обращается к GigaChat через Cloud.ru. В запросе только выбранные навыки из словаря и уровень. Резюме туда не отправляются. Внешний ответ требует проверки человеком. При сетевой ошибке сервис явно возвращает локальный шаблон. Отдельной кнопки генерации в MAX сейчас нет.</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https://github.com/TheEdfog/max-hackathon-bot/blob/3aa7eaa9b9cff539c2544145727273b9fc792787/docs/GIGACHAT.md</a:t>
            </a:r>
          </a:p>
          <a:p xmlns:a="http://schemas.openxmlformats.org/drawingml/2006/main">
            <a:r>
              <a:t>https://cloud.ru/docs/foundation-models/ug/topics/api-ref__specs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секунд. Компания может оставить свою HR-систему основным рабочим местом. Через наш API она создаёт вакансии по внешним идентификаторам, получает отклики и PDF, меняет внутренние этапы и читает ленту изменений. Ключ имеет срок действия и отдельные права, включая доступ к персональным данным. Сам API реализован и проверен. Пример адаптера работает на тестовом контракте, интеграции с конкретной коммерческой ATS мы не заявляем.</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https://github.com/TheEdfog/max-hackathon-bot/blob/3aa7eaa9b9cff539c2544145727273b9fc792787/docs/HR-INTEGRATION.md</a:t>
            </a:r>
          </a:p>
          <a:p xmlns:a="http://schemas.openxmlformats.org/drawingml/2006/main">
            <a:r>
              <a:t>https://github.com/TheEdfog/max-hackathon-bot/blob/3aa7eaa9b9cff539c2544145727273b9fc792787/examples/hr_sync.py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секунд. Архитектура соответствует масштабу пилота. FastAPI обслуживает сценарий и API, SQLite хранит состояния и очередь. Медленные импорты и GitHub-обзор выполняются фоном. Есть повторная доставка и защита от повторных событий. Локально используется polling. Для публичного стенда подготовлены Docker, Caddy и webhook. Один экземпляр - сознательное ограничение MVP, многосерверную готовность мы не заявляем.</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https://github.com/TheEdfog/max-hackathon-bot/blob/3aa7eaa9b9cff539c2544145727273b9fc792787/docs/DEPLOYMENT.md</a:t>
            </a:r>
          </a:p>
          <a:p xmlns:a="http://schemas.openxmlformats.org/drawingml/2006/main">
            <a:r>
              <a:t>https://github.com/TheEdfog/max-hackathon-bot/blob/3aa7eaa9b9cff539c2544145727273b9fc792787/hiring/outbox.py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секунд. Количество тестов относится к зафиксированному снимку, а не к оценке точности подбора. Мы отдельно проверили настоящий HTTP-цикл, перезапуск и восстановление базы. Docker проходил CI. Веб-сценарий ранее проверялся одним аккаунтом в изолированной песочнице. Это не заменяет мобильный клиент и двух независимых пользователей. Ни реального нагрузочного SLA, ни независимого аудита безопасности пока нет.</a:t>
            </a:r>
          </a:p>
          <a:p xmlns:a="http://schemas.openxmlformats.org/drawingml/2006/main">
            <a:r>
              <a:t/>
            </a:r>
          </a:p>
          <a:p xmlns:a="http://schemas.openxmlformats.org/drawingml/2006/main">
            <a:r>
              <a:t>Источники:</a:t>
            </a:r>
          </a:p>
          <a:p xmlns:a="http://schemas.openxmlformats.org/drawingml/2006/main">
            <a:r>
              <a:t>https://github.com/TheEdfog/max-hackathon-bot/tree/3aa7eaa9b9cff539c2544145727273b9fc792787/hiring_tests</a:t>
            </a:r>
          </a:p>
          <a:p xmlns:a="http://schemas.openxmlformats.org/drawingml/2006/main">
            <a:r>
              <a:t>https://github.com/TheEdfog/max-hackathon-bot/blob/3aa7eaa9b9cff539c2544145727273b9fc792787/docs/RELEASE-READINESS.md</a:t>
            </a:r>
          </a:p>
          <a:p xmlns:a="http://schemas.openxmlformats.org/drawingml/2006/main">
            <a:r>
              <a:t>https://github.com/TheEdfog/max-hackathon-bot/actions/runs/36351472299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секунд. Следующий шаг - согласованный пилот с рекрутером небольшой IT-команды. На сопоставимых вымышленных откликах измеряем именно активное время работы, а не ожидание сети. Цель - уменьшить медиану на тридцать процентов без роста ошибок карточки. Также считаем дополнительные вопросы и успешное прохождение сценария. До такого измерения это гипотеза. Встречи с комиссией считаем экспертной обратной связью, а не клиентским пилотом.</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https://github.com/TheEdfog/max-hackathon-bot/blob/3aa7eaa9b9cff539c2544145727273b9fc792787/docs/PILOT.md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секунд. Тиражирование начинаем с компаний с похожим наймом, затем проверяем соседние профессии. Сценарий согласия, отклика и приглашения сохраняется. Меняются профессиональные требования, тесты и интеграция работодателя. При росте числа компаний потребуются другая база и очередь, затем нагрузочные испытания. Возможная модель дохода - подписка работодателя, но готовность платить и себестоимость ещё не измерены.</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https://github.com/TheEdfog/max-hackathon-bot/blob/3aa7eaa9b9cff539c2544145727273b9fc792787/docs/PILOT.md</a:t>
            </a:r>
          </a:p>
          <a:p xmlns:a="http://schemas.openxmlformats.org/drawingml/2006/main">
            <a:r>
              <a:t>https://github.com/TheEdfog/max-hackathon-bot/blob/3aa7eaa9b9cff539c2544145727273b9fc792787/docs/DATA-POLICY.md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секунд. Наш результат - связный сценарий первичного отбора в MAX с понятной карточкой и API для работодателя. Ближайшие шаги - постоянный публичный стенд и пилот, который проверит экономию времени. Мы готовы показать учебный сценарий и ответить на вопросы по ограничениям. Представить участников без вымышленных ролей: зоны ответственности команда подтверждает перед защитой.</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https://github.com/TheEdfog/max-hackathon-bot/blob/3aa7eaa9b9cff539c2544145727273b9fc792787/README.md</a:t>
            </a:r>
          </a:p>
          <a:p xmlns:a="http://schemas.openxmlformats.org/drawingml/2006/main">
            <a:r>
              <a:t>https://max.ru/t781_hakaton_max_bot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Формула одного требования: min(1, 0.65 exact + 0.35 related + 0.25 min(statements/3,1) + 0.10 context). При наличии обеих групп итог 75% must и 25% nice, иначе существующая группа. Дубли повторённых слов не повышают результат. Контекст плоского резюме оценивается эвристикой. Без требований результат null. GitHub, тестовые ответы, имя и популярность не повышают оценку. Код Вадима разобран в части matching/parsing/recommendations. Полный диплом не найден. Согласие автора сообщено пользователем, условия использования нужно формализовать.</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https://github.com/TheEdfog/max-hackathon-bot/blob/3aa7eaa9b9cff539c2544145727273b9fc792787/docs/VADIM-REVIEW.md</a:t>
            </a:r>
          </a:p>
          <a:p xmlns:a="http://schemas.openxmlformats.org/drawingml/2006/main">
            <a:r>
              <a:t>https://github.com/TheEdfog/max-hackathon-bot/blob/3aa7eaa9b9cff539c2544145727273b9fc792787/hiring/compatibility.py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технические меры, не юридическое заключение. Для реальных данных нужны оператор, основание обработки, сроки хранения и регламент доступа. Отзыв не может стереть пересланные сообщения или копии в сторонней ATS. Получатель интеграции должен применить событие отзыва самостоятельно. GitHub-обзор не используется в оценке и не выполняет инструкции из README. Ограничиваем размер PDF, время обработки и разрешённые адреса.</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https://github.com/TheEdfog/max-hackathon-bot/blob/3aa7eaa9b9cff539c2544145727273b9fc792787/docs/DATA-POLICY.md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FAQ п.8 разрешает AI как вспомогательный инструмент, но запрещает сдавать результат генеративного ИИ как готовое решение. Значительную часть доработок подготовил AI-ассистент по заданиям команды. Это не скрывается и требует разъяснения организаторов. Собственное понимание кода важно, но само по себе не подтверждает допустимость объёма генерации. Mail.ru и Google Drive отключены по согласованию с командой до подтверждения допустимости их интеграций. Чат-бот и Python допустимы, менять настройки выданного бота нельзя.</a:t>
            </a:r>
          </a:p>
          <a:p xmlns:a="http://schemas.openxmlformats.org/drawingml/2006/main">
            <a:r>
              <a:t/>
            </a:r>
          </a:p>
          <a:p xmlns:a="http://schemas.openxmlformats.org/drawingml/2006/main">
            <a:r>
              <a:t>Источники:</a:t>
            </a:r>
          </a:p>
          <a:p xmlns:a="http://schemas.openxmlformats.org/drawingml/2006/main">
            <a:r>
              <a:t>Общий FAQ, пп. 1, 5-8, 10-12, 16, 19</a:t>
            </a:r>
          </a:p>
          <a:p xmlns:a="http://schemas.openxmlformats.org/drawingml/2006/main">
            <a:r>
              <a:t>https://github.com/TheEdfog/max-hackathon-bot/blob/3aa7eaa9b9cff539c2544145727273b9fc792787/docs/FAQ-AUDIT-2026-09-28.md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Полные пути и схемы сверять по openapi.json. AI имеет общий предел 50 резервов за жизнь базы, 1000 выходных токенов на вызов. Резюме и свободный текст отвергаются до обращения к модели. Обнаружены временные сетевые ошибки при живой проверке Cloud.ru, локальный fallback работает. Отдельный успешный реальный вызов вернул три вопроса. Ограничение числа запросов не равно денежной квоте провайдера. После восстановления старой базы счётчик может измениться. На стороне Cloud.ru тоже нужен контроль бюджета.</a:t>
            </a:r>
          </a:p>
          <a:p xmlns:a="http://schemas.openxmlformats.org/drawingml/2006/main">
            <a:r>
              <a:t/>
            </a:r>
          </a:p>
          <a:p xmlns:a="http://schemas.openxmlformats.org/drawingml/2006/main">
            <a:r>
              <a:t>Источники:</a:t>
            </a:r>
          </a:p>
          <a:p xmlns:a="http://schemas.openxmlformats.org/drawingml/2006/main">
            <a:r>
              <a:t>https://github.com/TheEdfog/max-hackathon-bot/blob/3aa7eaa9b9cff539c2544145727273b9fc792787/openapi.json</a:t>
            </a:r>
          </a:p>
          <a:p xmlns:a="http://schemas.openxmlformats.org/drawingml/2006/main">
            <a:r>
              <a:t>https://github.com/TheEdfog/max-hackathon-bot/blob/3aa7eaa9b9cff539c2544145727273b9fc792787/docs/GIGACHAT.md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Внешние факты и интеграции проверялись по официальной документации. В презентации нет заимствованных фотографий, логотипов и пользовательских резюме. Рекомендации YC использованы для ясной структуры и репетиции, не как источник рыночных фактов.</a:t>
            </a:r>
          </a:p>
          <a:p xmlns:a="http://schemas.openxmlformats.org/drawingml/2006/main">
            <a:r>
              <a:t/>
            </a:r>
          </a:p>
          <a:p xmlns:a="http://schemas.openxmlformats.org/drawingml/2006/main">
            <a:r>
              <a:t>Источники:</a:t>
            </a:r>
          </a:p>
          <a:p xmlns:a="http://schemas.openxmlformats.org/drawingml/2006/main">
            <a:r>
              <a:t>Кейс «Эффективный бизнес.pdf», стр.7-14</a:t>
            </a:r>
          </a:p>
          <a:p xmlns:a="http://schemas.openxmlformats.org/drawingml/2006/main">
            <a:r>
              <a:t>Общий FAQ.pdf</a:t>
            </a:r>
          </a:p>
          <a:p xmlns:a="http://schemas.openxmlformats.org/drawingml/2006/main">
            <a:r>
              <a:t>https://github.com/TheEdfog/max-hackathon-bot</a:t>
            </a:r>
          </a:p>
          <a:p xmlns:a="http://schemas.openxmlformats.org/drawingml/2006/main">
            <a:r>
              <a:t>https://dev.max.ru/docs-api</a:t>
            </a:r>
          </a:p>
          <a:p xmlns:a="http://schemas.openxmlformats.org/drawingml/2006/main">
            <a:r>
              <a:t>https://yandex.ru/dev/disk-api/doc/ru/reference/public</a:t>
            </a:r>
          </a:p>
          <a:p xmlns:a="http://schemas.openxmlformats.org/drawingml/2006/main">
            <a:r>
              <a:t>https://docs.github.com/en/rest</a:t>
            </a:r>
          </a:p>
          <a:p xmlns:a="http://schemas.openxmlformats.org/drawingml/2006/main">
            <a:r>
              <a:t>https://cloud.ru/docs/foundation-models/ug/topics/api-ref__specs</a:t>
            </a:r>
          </a:p>
          <a:p xmlns:a="http://schemas.openxmlformats.org/drawingml/2006/main">
            <a:r>
              <a:t>https://www.ycombinator.com/blog/guide-to-demo-day-pitches/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c972afb38546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f0541ed2894e5a" /><Relationship Type="http://schemas.openxmlformats.org/officeDocument/2006/relationships/slideLayout" Target="/ppt/slideLayouts/slideLayout1.xml" Id="R4f9e657e15ef47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9e657e15ef47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26598af19e4814" /><Relationship Type="http://schemas.openxmlformats.org/officeDocument/2006/relationships/notesSlide" Target="/ppt/notesSlides/notesSlide1.xml" Id="R494d7bc00ad140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b7069d1f0847a9" /><Relationship Type="http://schemas.openxmlformats.org/officeDocument/2006/relationships/notesSlide" Target="/ppt/notesSlides/notesSlide2.xml" Id="Rba283991827e4e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2867592b3c4640" /><Relationship Type="http://schemas.openxmlformats.org/officeDocument/2006/relationships/notesSlide" Target="/ppt/notesSlides/notesSlide3.xml" Id="R9f94311e7cea40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e6ece8577240d9" /><Relationship Type="http://schemas.openxmlformats.org/officeDocument/2006/relationships/notesSlide" Target="/ppt/notesSlides/notesSlide4.xml" Id="R4c73f3d7d69549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28f62f58d34e31" /><Relationship Type="http://schemas.openxmlformats.org/officeDocument/2006/relationships/notesSlide" Target="/ppt/notesSlides/notesSlide5.xml" Id="Rb7c786668bb742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da334778fa4666" /><Relationship Type="http://schemas.openxmlformats.org/officeDocument/2006/relationships/notesSlide" Target="/ppt/notesSlides/notesSlide6.xml" Id="Ra586dc84757149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22036f51954b52" /><Relationship Type="http://schemas.openxmlformats.org/officeDocument/2006/relationships/notesSlide" Target="/ppt/notesSlides/notesSlide7.xml" Id="R8517e810b9d44f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b97de14094488d" /><Relationship Type="http://schemas.openxmlformats.org/officeDocument/2006/relationships/notesSlide" Target="/ppt/notesSlides/notesSlide8.xml" Id="Rde54796b3aea40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ee22ca7bd544dba" /><Relationship Type="http://schemas.openxmlformats.org/officeDocument/2006/relationships/notesSlide" Target="/ppt/notesSlides/notesSlide9.xml" Id="Rfa6db78a30aa47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5e10ba365d2437d" /><Relationship Type="http://schemas.openxmlformats.org/officeDocument/2006/relationships/notesSlide" Target="/ppt/notesSlides/notesSlide10.xml" Id="R15a55f533e6e46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06cb6a32024a36" /><Relationship Type="http://schemas.openxmlformats.org/officeDocument/2006/relationships/notesSlide" Target="/ppt/notesSlides/notesSlide11.xml" Id="R1ba9f9eee2eb44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ceed5976354b77" /><Relationship Type="http://schemas.openxmlformats.org/officeDocument/2006/relationships/notesSlide" Target="/ppt/notesSlides/notesSlide12.xml" Id="R564c1d5e843b46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dd2b57c2d343a1" /><Relationship Type="http://schemas.openxmlformats.org/officeDocument/2006/relationships/notesSlide" Target="/ppt/notesSlides/notesSlide13.xml" Id="R0de09bc806d348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a25fbcd93a846bf" /><Relationship Type="http://schemas.openxmlformats.org/officeDocument/2006/relationships/notesSlide" Target="/ppt/notesSlides/notesSlide14.xml" Id="Rfcd8c9849de94b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6ff297f6084461a" /><Relationship Type="http://schemas.openxmlformats.org/officeDocument/2006/relationships/notesSlide" Target="/ppt/notesSlides/notesSlide15.xml" Id="Rc9d699b6aee347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2472efcff4f4d59" /><Relationship Type="http://schemas.openxmlformats.org/officeDocument/2006/relationships/notesSlide" Target="/ppt/notesSlides/notesSlide16.xml" Id="Rc508e94b228341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68f9876f67c4657" /><Relationship Type="http://schemas.openxmlformats.org/officeDocument/2006/relationships/notesSlide" Target="/ppt/notesSlides/notesSlide17.xml" Id="Rcf8b1be3713440cd" /></Relationships>
</file>

<file path=ppt/slides/slide1.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15" name="text-0-55">
            <a:extLst xmlns:a="http://schemas.openxmlformats.org/drawingml/2006/main">
              <a:ext uri="{FF2B5EF4-FFF2-40B4-BE49-F238E27FC236}">
                <a16:creationId xmlns:a16="http://schemas.microsoft.com/office/drawing/2014/main" id="{F1B52FAF-7188-4184-A69B-72D6CFB4EF24}"/>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Техническая проверка</a:t>
            </a:r>
          </a:p>
        </p:txBody>
      </p:sp>
      <p:sp>
        <p:nvSpPr>
          <p:cNvPr id="2" name="text-1-666">
            <a:extLst xmlns:a="http://schemas.openxmlformats.org/drawingml/2006/main">
              <a:ext uri="{FF2B5EF4-FFF2-40B4-BE49-F238E27FC236}">
                <a16:creationId xmlns:a16="http://schemas.microsoft.com/office/drawing/2014/main" id="{2E63C3B8-8647-45F0-A9BF-A0D6EC385C58}"/>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Служебный слайд. Публичная копия без секретов</a:t>
            </a:r>
          </a:p>
        </p:txBody>
      </p:sp>
      <p:sp>
        <p:nvSpPr>
          <p:cNvPr id="3" name="text-2-666">
            <a:extLst xmlns:a="http://schemas.openxmlformats.org/drawingml/2006/main">
              <a:ext uri="{FF2B5EF4-FFF2-40B4-BE49-F238E27FC236}">
                <a16:creationId xmlns:a16="http://schemas.microsoft.com/office/drawing/2014/main" id="{D0AA7778-9E7C-41D5-83BF-FBFFFBD2CAA6}"/>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01</a:t>
            </a:r>
          </a:p>
        </p:txBody>
      </p:sp>
      <p:sp>
        <p:nvSpPr>
          <p:cNvPr id="4" name="text-3-182">
            <a:extLst xmlns:a="http://schemas.openxmlformats.org/drawingml/2006/main">
              <a:ext uri="{FF2B5EF4-FFF2-40B4-BE49-F238E27FC236}">
                <a16:creationId xmlns:a16="http://schemas.microsoft.com/office/drawing/2014/main" id="{2C10846E-867D-4845-A29E-1443E8E04278}"/>
              </a:ext>
            </a:extLst>
          </p:cNvPr>
          <p:cNvSpPr>
            <a:spLocks xmlns:a="http://schemas.openxmlformats.org/drawingml/2006/main" noGrp="1"/>
          </p:cNvSpPr>
          <p:nvPr/>
        </p:nvSpPr>
        <p:spPr>
          <a:xfrm xmlns:a="http://schemas.openxmlformats.org/drawingml/2006/main">
            <a:off x="647700" y="173355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B74"/>
                </a:solidFill>
                <a:latin typeface="Arial"/>
                <a:ea typeface="Arial"/>
                <a:cs typeface="Arial"/>
              </a:defRPr>
            </a:pPr>
            <a:r>
              <a:rPr sz="1875" b="1">
                <a:solidFill>
                  <a:srgbClr val="087B74"/>
                </a:solidFill>
                <a:latin typeface="Arial"/>
                <a:ea typeface="Arial"/>
                <a:cs typeface="Arial"/>
              </a:rPr>
              <a:t>Бот MAX</a:t>
            </a:r>
          </a:p>
        </p:txBody>
      </p:sp>
      <p:sp>
        <p:nvSpPr>
          <p:cNvPr id="5" name="text-4-182">
            <a:extLst xmlns:a="http://schemas.openxmlformats.org/drawingml/2006/main">
              <a:ext uri="{FF2B5EF4-FFF2-40B4-BE49-F238E27FC236}">
                <a16:creationId xmlns:a16="http://schemas.microsoft.com/office/drawing/2014/main" id="{EFFB5896-F21F-43CA-9D91-299E2C387D04}"/>
              </a:ext>
            </a:extLst>
          </p:cNvPr>
          <p:cNvSpPr>
            <a:spLocks xmlns:a="http://schemas.openxmlformats.org/drawingml/2006/main" noGrp="1"/>
          </p:cNvSpPr>
          <p:nvPr/>
        </p:nvSpPr>
        <p:spPr>
          <a:xfrm xmlns:a="http://schemas.openxmlformats.org/drawingml/2006/main">
            <a:off x="2524125" y="173355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52B36"/>
                </a:solidFill>
                <a:latin typeface="Arial"/>
                <a:ea typeface="Arial"/>
                <a:cs typeface="Arial"/>
              </a:defRPr>
            </a:pPr>
            <a:r>
              <a:rPr sz="1875" b="0">
                <a:solidFill>
                  <a:srgbClr val="152B36"/>
                </a:solidFill>
                <a:latin typeface="Arial"/>
                <a:ea typeface="Arial"/>
                <a:cs typeface="Arial"/>
              </a:rPr>
              <a:t>https://max.ru/t781_hakaton_max_bot</a:t>
            </a:r>
          </a:p>
        </p:txBody>
      </p:sp>
      <p:sp>
        <p:nvSpPr>
          <p:cNvPr id="6" name="text-5-238">
            <a:extLst xmlns:a="http://schemas.openxmlformats.org/drawingml/2006/main">
              <a:ext uri="{FF2B5EF4-FFF2-40B4-BE49-F238E27FC236}">
                <a16:creationId xmlns:a16="http://schemas.microsoft.com/office/drawing/2014/main" id="{1E504351-D12B-4B14-9055-C627DE803D98}"/>
              </a:ext>
            </a:extLst>
          </p:cNvPr>
          <p:cNvSpPr>
            <a:spLocks xmlns:a="http://schemas.openxmlformats.org/drawingml/2006/main" noGrp="1"/>
          </p:cNvSpPr>
          <p:nvPr/>
        </p:nvSpPr>
        <p:spPr>
          <a:xfrm xmlns:a="http://schemas.openxmlformats.org/drawingml/2006/main">
            <a:off x="647700" y="226695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B74"/>
                </a:solidFill>
                <a:latin typeface="Arial"/>
                <a:ea typeface="Arial"/>
                <a:cs typeface="Arial"/>
              </a:defRPr>
            </a:pPr>
            <a:r>
              <a:rPr sz="1875" b="1">
                <a:solidFill>
                  <a:srgbClr val="087B74"/>
                </a:solidFill>
                <a:latin typeface="Arial"/>
                <a:ea typeface="Arial"/>
                <a:cs typeface="Arial"/>
              </a:rPr>
              <a:t>Исходный код</a:t>
            </a:r>
          </a:p>
        </p:txBody>
      </p:sp>
      <p:sp>
        <p:nvSpPr>
          <p:cNvPr id="7" name="text-6-238">
            <a:extLst xmlns:a="http://schemas.openxmlformats.org/drawingml/2006/main">
              <a:ext uri="{FF2B5EF4-FFF2-40B4-BE49-F238E27FC236}">
                <a16:creationId xmlns:a16="http://schemas.microsoft.com/office/drawing/2014/main" id="{0B4D4E26-3208-4E26-9DB0-3515383AB74C}"/>
              </a:ext>
            </a:extLst>
          </p:cNvPr>
          <p:cNvSpPr>
            <a:spLocks xmlns:a="http://schemas.openxmlformats.org/drawingml/2006/main" noGrp="1"/>
          </p:cNvSpPr>
          <p:nvPr/>
        </p:nvSpPr>
        <p:spPr>
          <a:xfrm xmlns:a="http://schemas.openxmlformats.org/drawingml/2006/main">
            <a:off x="2524125" y="226695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52B36"/>
                </a:solidFill>
                <a:latin typeface="Arial"/>
                <a:ea typeface="Arial"/>
                <a:cs typeface="Arial"/>
              </a:defRPr>
            </a:pPr>
            <a:r>
              <a:rPr sz="1875" b="0">
                <a:solidFill>
                  <a:srgbClr val="152B36"/>
                </a:solidFill>
                <a:latin typeface="Arial"/>
                <a:ea typeface="Arial"/>
                <a:cs typeface="Arial"/>
              </a:rPr>
              <a:t>https://github.com/TheEdfog/max-hackathon-bot</a:t>
            </a:r>
          </a:p>
        </p:txBody>
      </p:sp>
      <p:sp>
        <p:nvSpPr>
          <p:cNvPr id="8" name="text-7-294">
            <a:extLst xmlns:a="http://schemas.openxmlformats.org/drawingml/2006/main">
              <a:ext uri="{FF2B5EF4-FFF2-40B4-BE49-F238E27FC236}">
                <a16:creationId xmlns:a16="http://schemas.microsoft.com/office/drawing/2014/main" id="{D21ACA61-98A7-4FF3-91E3-3C009DAFAD57}"/>
              </a:ext>
            </a:extLst>
          </p:cNvPr>
          <p:cNvSpPr>
            <a:spLocks xmlns:a="http://schemas.openxmlformats.org/drawingml/2006/main" noGrp="1"/>
          </p:cNvSpPr>
          <p:nvPr/>
        </p:nvSpPr>
        <p:spPr>
          <a:xfrm xmlns:a="http://schemas.openxmlformats.org/drawingml/2006/main">
            <a:off x="647700" y="280035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B74"/>
                </a:solidFill>
                <a:latin typeface="Arial"/>
                <a:ea typeface="Arial"/>
                <a:cs typeface="Arial"/>
              </a:defRPr>
            </a:pPr>
            <a:r>
              <a:rPr sz="1875" b="1">
                <a:solidFill>
                  <a:srgbClr val="087B74"/>
                </a:solidFill>
                <a:latin typeface="Arial"/>
                <a:ea typeface="Arial"/>
                <a:cs typeface="Arial"/>
              </a:rPr>
              <a:t>Снимок кода</a:t>
            </a:r>
          </a:p>
        </p:txBody>
      </p:sp>
      <p:sp>
        <p:nvSpPr>
          <p:cNvPr id="9" name="text-8-294">
            <a:extLst xmlns:a="http://schemas.openxmlformats.org/drawingml/2006/main">
              <a:ext uri="{FF2B5EF4-FFF2-40B4-BE49-F238E27FC236}">
                <a16:creationId xmlns:a16="http://schemas.microsoft.com/office/drawing/2014/main" id="{C39B348F-A492-4AE0-9370-C7C38F312582}"/>
              </a:ext>
            </a:extLst>
          </p:cNvPr>
          <p:cNvSpPr>
            <a:spLocks xmlns:a="http://schemas.openxmlformats.org/drawingml/2006/main" noGrp="1"/>
          </p:cNvSpPr>
          <p:nvPr/>
        </p:nvSpPr>
        <p:spPr>
          <a:xfrm xmlns:a="http://schemas.openxmlformats.org/drawingml/2006/main">
            <a:off x="2524125" y="2800350"/>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152B36"/>
                </a:solidFill>
                <a:latin typeface="Arial"/>
                <a:ea typeface="Arial"/>
                <a:cs typeface="Arial"/>
              </a:defRPr>
            </a:pPr>
            <a:r>
              <a:rPr sz="1650" b="0">
                <a:solidFill>
                  <a:srgbClr val="152B36"/>
                </a:solidFill>
                <a:latin typeface="Arial"/>
                <a:ea typeface="Arial"/>
                <a:cs typeface="Arial"/>
              </a:rPr>
              <a:t>3aa7eaa9b9cff539c2544145727273b9fc792787</a:t>
            </a:r>
          </a:p>
        </p:txBody>
      </p:sp>
      <p:sp>
        <p:nvSpPr>
          <p:cNvPr id="10" name="text-9-350">
            <a:extLst xmlns:a="http://schemas.openxmlformats.org/drawingml/2006/main">
              <a:ext uri="{FF2B5EF4-FFF2-40B4-BE49-F238E27FC236}">
                <a16:creationId xmlns:a16="http://schemas.microsoft.com/office/drawing/2014/main" id="{D0CE46FB-2263-4C34-B637-B70B49BA0822}"/>
              </a:ext>
            </a:extLst>
          </p:cNvPr>
          <p:cNvSpPr>
            <a:spLocks xmlns:a="http://schemas.openxmlformats.org/drawingml/2006/main" noGrp="1"/>
          </p:cNvSpPr>
          <p:nvPr/>
        </p:nvSpPr>
        <p:spPr>
          <a:xfrm xmlns:a="http://schemas.openxmlformats.org/drawingml/2006/main">
            <a:off x="647700" y="333375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B74"/>
                </a:solidFill>
                <a:latin typeface="Arial"/>
                <a:ea typeface="Arial"/>
                <a:cs typeface="Arial"/>
              </a:defRPr>
            </a:pPr>
            <a:r>
              <a:rPr sz="1875" b="1">
                <a:solidFill>
                  <a:srgbClr val="087B74"/>
                </a:solidFill>
                <a:latin typeface="Arial"/>
                <a:ea typeface="Arial"/>
                <a:cs typeface="Arial"/>
              </a:rPr>
              <a:t>API и доступы</a:t>
            </a:r>
          </a:p>
        </p:txBody>
      </p:sp>
      <p:sp>
        <p:nvSpPr>
          <p:cNvPr id="11" name="text-10-350">
            <a:extLst xmlns:a="http://schemas.openxmlformats.org/drawingml/2006/main">
              <a:ext uri="{FF2B5EF4-FFF2-40B4-BE49-F238E27FC236}">
                <a16:creationId xmlns:a16="http://schemas.microsoft.com/office/drawing/2014/main" id="{59DB1EF2-EFA9-4AF8-9E00-3CB2B5B77F62}"/>
              </a:ext>
            </a:extLst>
          </p:cNvPr>
          <p:cNvSpPr>
            <a:spLocks xmlns:a="http://schemas.openxmlformats.org/drawingml/2006/main" noGrp="1"/>
          </p:cNvSpPr>
          <p:nvPr/>
        </p:nvSpPr>
        <p:spPr>
          <a:xfrm xmlns:a="http://schemas.openxmlformats.org/drawingml/2006/main">
            <a:off x="2524125" y="3333750"/>
            <a:ext cx="885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52B36"/>
                </a:solidFill>
                <a:latin typeface="Arial"/>
                <a:ea typeface="Arial"/>
                <a:cs typeface="Arial"/>
              </a:defRPr>
            </a:pPr>
            <a:r>
              <a:rPr sz="1875" b="0">
                <a:solidFill>
                  <a:srgbClr val="152B36"/>
                </a:solidFill>
                <a:latin typeface="Arial"/>
                <a:ea typeface="Arial"/>
                <a:cs typeface="Arial"/>
              </a:rPr>
              <a:t>Публичный HTTPS ещё не размещён. Тестовые доступы</a:t>
            </a:r>
          </a:p>
          <a:p xmlns:a="http://schemas.openxmlformats.org/drawingml/2006/main">
            <a:pPr>
              <a:defRPr sz="1875" b="0">
                <a:solidFill>
                  <a:srgbClr val="152B36"/>
                </a:solidFill>
                <a:latin typeface="Arial"/>
                <a:ea typeface="Arial"/>
                <a:cs typeface="Arial"/>
              </a:defRPr>
            </a:pPr>
            <a:r>
              <a:rPr sz="1875" b="0">
                <a:solidFill>
                  <a:srgbClr val="152B36"/>
                </a:solidFill>
                <a:latin typeface="Arial"/>
                <a:ea typeface="Arial"/>
                <a:cs typeface="Arial"/>
              </a:rPr>
              <a:t>и секреты передаются только в закрытом комплекте.</a:t>
            </a:r>
          </a:p>
        </p:txBody>
      </p:sp>
      <p:sp>
        <p:nvSpPr>
          <p:cNvPr id="12" name="text-11-448">
            <a:extLst xmlns:a="http://schemas.openxmlformats.org/drawingml/2006/main">
              <a:ext uri="{FF2B5EF4-FFF2-40B4-BE49-F238E27FC236}">
                <a16:creationId xmlns:a16="http://schemas.microsoft.com/office/drawing/2014/main" id="{533D1F1A-62DB-40C7-AF18-88A545D7E719}"/>
              </a:ext>
            </a:extLst>
          </p:cNvPr>
          <p:cNvSpPr>
            <a:spLocks xmlns:a="http://schemas.openxmlformats.org/drawingml/2006/main" noGrp="1"/>
          </p:cNvSpPr>
          <p:nvPr/>
        </p:nvSpPr>
        <p:spPr>
          <a:xfrm xmlns:a="http://schemas.openxmlformats.org/drawingml/2006/main">
            <a:off x="647700" y="426720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B74"/>
                </a:solidFill>
                <a:latin typeface="Arial"/>
                <a:ea typeface="Arial"/>
                <a:cs typeface="Arial"/>
              </a:defRPr>
            </a:pPr>
            <a:r>
              <a:rPr sz="1875" b="1">
                <a:solidFill>
                  <a:srgbClr val="087B74"/>
                </a:solidFill>
                <a:latin typeface="Arial"/>
                <a:ea typeface="Arial"/>
                <a:cs typeface="Arial"/>
              </a:rPr>
              <a:t>Проверка</a:t>
            </a:r>
          </a:p>
        </p:txBody>
      </p:sp>
      <p:sp>
        <p:nvSpPr>
          <p:cNvPr id="13" name="text-12-448">
            <a:extLst xmlns:a="http://schemas.openxmlformats.org/drawingml/2006/main">
              <a:ext uri="{FF2B5EF4-FFF2-40B4-BE49-F238E27FC236}">
                <a16:creationId xmlns:a16="http://schemas.microsoft.com/office/drawing/2014/main" id="{BF54E85E-C6FA-4607-81AE-98AC76535C64}"/>
              </a:ext>
            </a:extLst>
          </p:cNvPr>
          <p:cNvSpPr>
            <a:spLocks xmlns:a="http://schemas.openxmlformats.org/drawingml/2006/main" noGrp="1"/>
          </p:cNvSpPr>
          <p:nvPr/>
        </p:nvSpPr>
        <p:spPr>
          <a:xfrm xmlns:a="http://schemas.openxmlformats.org/drawingml/2006/main">
            <a:off x="2524125" y="4267200"/>
            <a:ext cx="885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52B36"/>
                </a:solidFill>
                <a:latin typeface="Arial"/>
                <a:ea typeface="Arial"/>
                <a:cs typeface="Arial"/>
              </a:defRPr>
            </a:pPr>
            <a:r>
              <a:rPr sz="1875" b="0">
                <a:solidFill>
                  <a:srgbClr val="152B36"/>
                </a:solidFill>
                <a:latin typeface="Arial"/>
                <a:ea typeface="Arial"/>
                <a:cs typeface="Arial"/>
              </a:rPr>
              <a:t>Два аккаунта: вакансия, отклик, уточнение, приглашение,</a:t>
            </a:r>
          </a:p>
          <a:p xmlns:a="http://schemas.openxmlformats.org/drawingml/2006/main">
            <a:pPr>
              <a:defRPr sz="1875" b="0">
                <a:solidFill>
                  <a:srgbClr val="152B36"/>
                </a:solidFill>
                <a:latin typeface="Arial"/>
                <a:ea typeface="Arial"/>
                <a:cs typeface="Arial"/>
              </a:defRPr>
            </a:pPr>
            <a:r>
              <a:rPr sz="1875" b="0">
                <a:solidFill>
                  <a:srgbClr val="152B36"/>
                </a:solidFill>
                <a:latin typeface="Arial"/>
                <a:ea typeface="Arial"/>
                <a:cs typeface="Arial"/>
              </a:rPr>
              <a:t>подтверждение. Один аккаунт: /demo на синтетике.</a:t>
            </a:r>
          </a:p>
        </p:txBody>
      </p:sp>
      <p:sp>
        <p:nvSpPr>
          <p:cNvPr id="14" name="text-13-570">
            <a:extLst xmlns:a="http://schemas.openxmlformats.org/drawingml/2006/main">
              <a:ext uri="{FF2B5EF4-FFF2-40B4-BE49-F238E27FC236}">
                <a16:creationId xmlns:a16="http://schemas.microsoft.com/office/drawing/2014/main" id="{5D83FB5B-6945-42B9-9B8E-CB03FEDF99CE}"/>
              </a:ext>
            </a:extLst>
          </p:cNvPr>
          <p:cNvSpPr>
            <a:spLocks xmlns:a="http://schemas.openxmlformats.org/drawingml/2006/main" noGrp="1"/>
          </p:cNvSpPr>
          <p:nvPr/>
        </p:nvSpPr>
        <p:spPr>
          <a:xfrm xmlns:a="http://schemas.openxmlformats.org/drawingml/2006/main">
            <a:off x="647700" y="54292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87B74"/>
                </a:solidFill>
                <a:latin typeface="Arial"/>
                <a:ea typeface="Arial"/>
                <a:cs typeface="Arial"/>
              </a:defRPr>
            </a:pPr>
            <a:r>
              <a:rPr sz="1950" b="1">
                <a:solidFill>
                  <a:srgbClr val="087B74"/>
                </a:solidFill>
                <a:latin typeface="Arial"/>
                <a:ea typeface="Arial"/>
                <a:cs typeface="Arial"/>
              </a:rPr>
              <a:t>Перед сдачей нужны HTTPS, закрытые доступы и фиксация версии.</a:t>
            </a:r>
          </a:p>
        </p:txBody>
      </p:sp>
    </p:spTree>
    <p:extLst>
      <p:ext uri="{BB962C8B-B14F-4D97-AF65-F5344CB8AC3E}">
        <p14:creationId xmlns:p14="http://schemas.microsoft.com/office/powerpoint/2010/main" val="1648040426"/>
      </p:ext>
    </p:extLst>
  </p:cSld>
</p:sld>
</file>

<file path=ppt/slides/slide2.xml><?xml version="1.0" encoding="utf-8"?>
<p:sld xmlns:p="http://schemas.openxmlformats.org/presentationml/2006/main">
  <p:cSld>
    <p:bg>
      <p:bgPr>
        <a:solidFill xmlns:a="http://schemas.openxmlformats.org/drawingml/2006/main">
          <a:srgbClr val="102C37"/>
        </a:solidFill>
      </p:bgPr>
    </p:bg>
    <p:spTree>
      <p:nvGrpSpPr>
        <p:cNvPr id="1" name=""/>
        <p:cNvGrpSpPr/>
        <p:nvPr/>
      </p:nvGrpSpPr>
      <p:grpSpPr>
        <a:xfrm xmlns:a="http://schemas.openxmlformats.org/drawingml/2006/main"/>
      </p:grpSpPr>
      <p:sp>
        <p:nvSpPr>
          <p:cNvPr id="6" name="text-0-666">
            <a:extLst xmlns:a="http://schemas.openxmlformats.org/drawingml/2006/main">
              <a:ext uri="{FF2B5EF4-FFF2-40B4-BE49-F238E27FC236}">
                <a16:creationId xmlns:a16="http://schemas.microsoft.com/office/drawing/2014/main" id="{5F2BA4AC-1F77-4B00-8C87-825600884D85}"/>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B9D5D7"/>
                </a:solidFill>
                <a:latin typeface="Arial"/>
                <a:ea typeface="Arial"/>
                <a:cs typeface="Arial"/>
              </a:defRPr>
            </a:pPr>
            <a:r>
              <a:rPr sz="1350" b="0">
                <a:solidFill>
                  <a:srgbClr val="B9D5D7"/>
                </a:solidFill>
                <a:latin typeface="Arial"/>
                <a:ea typeface="Arial"/>
                <a:cs typeface="Arial"/>
              </a:rPr>
              <a:t>Хакатон MAX. Эффективный бизнес</a:t>
            </a:r>
          </a:p>
        </p:txBody>
      </p:sp>
      <p:sp>
        <p:nvSpPr>
          <p:cNvPr id="2" name="text-1-666">
            <a:extLst xmlns:a="http://schemas.openxmlformats.org/drawingml/2006/main">
              <a:ext uri="{FF2B5EF4-FFF2-40B4-BE49-F238E27FC236}">
                <a16:creationId xmlns:a16="http://schemas.microsoft.com/office/drawing/2014/main" id="{FC70BB68-5DA7-4C9A-A9A9-0CB502145FFF}"/>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B9D5D7"/>
                </a:solidFill>
                <a:latin typeface="Arial"/>
                <a:ea typeface="Arial"/>
                <a:cs typeface="Arial"/>
              </a:defRPr>
            </a:pPr>
            <a:r>
              <a:rPr sz="1350" b="0">
                <a:solidFill>
                  <a:srgbClr val="B9D5D7"/>
                </a:solidFill>
                <a:latin typeface="Arial"/>
                <a:ea typeface="Arial"/>
                <a:cs typeface="Arial"/>
              </a:rPr>
              <a:t>02</a:t>
            </a:r>
          </a:p>
        </p:txBody>
      </p:sp>
      <p:sp>
        <p:nvSpPr>
          <p:cNvPr id="3" name="text-2-110">
            <a:extLst xmlns:a="http://schemas.openxmlformats.org/drawingml/2006/main">
              <a:ext uri="{FF2B5EF4-FFF2-40B4-BE49-F238E27FC236}">
                <a16:creationId xmlns:a16="http://schemas.microsoft.com/office/drawing/2014/main" id="{6A6DFB9E-FADF-4EA3-963D-4C423A6BE108}"/>
              </a:ext>
            </a:extLst>
          </p:cNvPr>
          <p:cNvSpPr>
            <a:spLocks xmlns:a="http://schemas.openxmlformats.org/drawingml/2006/main" noGrp="1"/>
          </p:cNvSpPr>
          <p:nvPr/>
        </p:nvSpPr>
        <p:spPr>
          <a:xfrm xmlns:a="http://schemas.openxmlformats.org/drawingml/2006/main">
            <a:off x="647700" y="104775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РезюмИТ Найм</a:t>
            </a:r>
          </a:p>
        </p:txBody>
      </p:sp>
      <p:sp>
        <p:nvSpPr>
          <p:cNvPr id="4" name="text-3-250">
            <a:extLst xmlns:a="http://schemas.openxmlformats.org/drawingml/2006/main">
              <a:ext uri="{FF2B5EF4-FFF2-40B4-BE49-F238E27FC236}">
                <a16:creationId xmlns:a16="http://schemas.microsoft.com/office/drawing/2014/main" id="{38A4B620-A60D-4BD8-9C64-CF925CC81768}"/>
              </a:ext>
            </a:extLst>
          </p:cNvPr>
          <p:cNvSpPr>
            <a:spLocks xmlns:a="http://schemas.openxmlformats.org/drawingml/2006/main" noGrp="1"/>
          </p:cNvSpPr>
          <p:nvPr/>
        </p:nvSpPr>
        <p:spPr>
          <a:xfrm xmlns:a="http://schemas.openxmlformats.org/drawingml/2006/main">
            <a:off x="647700" y="2381250"/>
            <a:ext cx="10477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0">
                <a:solidFill>
                  <a:srgbClr val="8AE8CE"/>
                </a:solidFill>
                <a:latin typeface="Arial"/>
                <a:ea typeface="Arial"/>
                <a:cs typeface="Arial"/>
              </a:defRPr>
            </a:pPr>
            <a:r>
              <a:rPr sz="3600" b="0">
                <a:solidFill>
                  <a:srgbClr val="8AE8CE"/>
                </a:solidFill>
                <a:latin typeface="Arial"/>
                <a:ea typeface="Arial"/>
                <a:cs typeface="Arial"/>
              </a:rPr>
              <a:t>Помощник первичного отбора</a:t>
            </a:r>
          </a:p>
          <a:p xmlns:a="http://schemas.openxmlformats.org/drawingml/2006/main">
            <a:pPr>
              <a:defRPr sz="3600" b="0">
                <a:solidFill>
                  <a:srgbClr val="8AE8CE"/>
                </a:solidFill>
                <a:latin typeface="Arial"/>
                <a:ea typeface="Arial"/>
                <a:cs typeface="Arial"/>
              </a:defRPr>
            </a:pPr>
            <a:r>
              <a:rPr sz="3600" b="0">
                <a:solidFill>
                  <a:srgbClr val="8AE8CE"/>
                </a:solidFill>
                <a:latin typeface="Arial"/>
                <a:ea typeface="Arial"/>
                <a:cs typeface="Arial"/>
              </a:rPr>
              <a:t>для работодателя в MAX</a:t>
            </a:r>
          </a:p>
        </p:txBody>
      </p:sp>
      <p:sp>
        <p:nvSpPr>
          <p:cNvPr id="5" name="text-4-445">
            <a:extLst xmlns:a="http://schemas.openxmlformats.org/drawingml/2006/main">
              <a:ext uri="{FF2B5EF4-FFF2-40B4-BE49-F238E27FC236}">
                <a16:creationId xmlns:a16="http://schemas.microsoft.com/office/drawing/2014/main" id="{05F1E265-686D-4AF7-9FAA-7CA53BD64AAB}"/>
              </a:ext>
            </a:extLst>
          </p:cNvPr>
          <p:cNvSpPr>
            <a:spLocks xmlns:a="http://schemas.openxmlformats.org/drawingml/2006/main" noGrp="1"/>
          </p:cNvSpPr>
          <p:nvPr/>
        </p:nvSpPr>
        <p:spPr>
          <a:xfrm xmlns:a="http://schemas.openxmlformats.org/drawingml/2006/main">
            <a:off x="647700" y="423862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Рекрутер видит опыт и ответы кандидата</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и получает подтверждение интереса к интервью.</a:t>
            </a:r>
          </a:p>
        </p:txBody>
      </p:sp>
    </p:spTree>
    <p:extLst>
      <p:ext uri="{BB962C8B-B14F-4D97-AF65-F5344CB8AC3E}">
        <p14:creationId xmlns:p14="http://schemas.microsoft.com/office/powerpoint/2010/main" val="1166950093"/>
      </p:ext>
    </p:extLst>
  </p:cSld>
</p:sld>
</file>

<file path=ppt/slides/slide3.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9" name="text-0-55">
            <a:extLst xmlns:a="http://schemas.openxmlformats.org/drawingml/2006/main">
              <a:ext uri="{FF2B5EF4-FFF2-40B4-BE49-F238E27FC236}">
                <a16:creationId xmlns:a16="http://schemas.microsoft.com/office/drawing/2014/main" id="{FDFAC566-AF36-4330-B3CC-F6A815E0EBE4}"/>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Первый сегмент: небольшие IT-команды</a:t>
            </a:r>
          </a:p>
        </p:txBody>
      </p:sp>
      <p:sp>
        <p:nvSpPr>
          <p:cNvPr id="2" name="text-1-666">
            <a:extLst xmlns:a="http://schemas.openxmlformats.org/drawingml/2006/main">
              <a:ext uri="{FF2B5EF4-FFF2-40B4-BE49-F238E27FC236}">
                <a16:creationId xmlns:a16="http://schemas.microsoft.com/office/drawing/2014/main" id="{858CBC4F-1180-4F42-A87C-C6E002601186}"/>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the_swarm</a:t>
            </a:r>
          </a:p>
        </p:txBody>
      </p:sp>
      <p:sp>
        <p:nvSpPr>
          <p:cNvPr id="3" name="text-2-666">
            <a:extLst xmlns:a="http://schemas.openxmlformats.org/drawingml/2006/main">
              <a:ext uri="{FF2B5EF4-FFF2-40B4-BE49-F238E27FC236}">
                <a16:creationId xmlns:a16="http://schemas.microsoft.com/office/drawing/2014/main" id="{F7EF850C-ABB7-4A7B-8A5C-E7F9DAB13B4A}"/>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03</a:t>
            </a:r>
          </a:p>
        </p:txBody>
      </p:sp>
      <p:sp>
        <p:nvSpPr>
          <p:cNvPr id="4" name="text-3-208">
            <a:extLst xmlns:a="http://schemas.openxmlformats.org/drawingml/2006/main">
              <a:ext uri="{FF2B5EF4-FFF2-40B4-BE49-F238E27FC236}">
                <a16:creationId xmlns:a16="http://schemas.microsoft.com/office/drawing/2014/main" id="{1F43E034-B998-4941-B271-662F4F63DDDA}"/>
              </a:ext>
            </a:extLst>
          </p:cNvPr>
          <p:cNvSpPr>
            <a:spLocks xmlns:a="http://schemas.openxmlformats.org/drawingml/2006/main" noGrp="1"/>
          </p:cNvSpPr>
          <p:nvPr/>
        </p:nvSpPr>
        <p:spPr>
          <a:xfrm xmlns:a="http://schemas.openxmlformats.org/drawingml/2006/main">
            <a:off x="647700" y="1981200"/>
            <a:ext cx="468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B74"/>
                </a:solidFill>
                <a:latin typeface="Arial"/>
                <a:ea typeface="Arial"/>
                <a:cs typeface="Arial"/>
              </a:defRPr>
            </a:pPr>
            <a:r>
              <a:rPr sz="2400" b="1">
                <a:solidFill>
                  <a:srgbClr val="087B74"/>
                </a:solidFill>
                <a:latin typeface="Arial"/>
                <a:ea typeface="Arial"/>
                <a:cs typeface="Arial"/>
              </a:rPr>
              <a:t>Сегодня</a:t>
            </a:r>
          </a:p>
        </p:txBody>
      </p:sp>
      <p:sp>
        <p:nvSpPr>
          <p:cNvPr id="5" name="text-4-283">
            <a:extLst xmlns:a="http://schemas.openxmlformats.org/drawingml/2006/main">
              <a:ext uri="{FF2B5EF4-FFF2-40B4-BE49-F238E27FC236}">
                <a16:creationId xmlns:a16="http://schemas.microsoft.com/office/drawing/2014/main" id="{9BF46A69-A4A6-42D3-85CA-168B313D446A}"/>
              </a:ext>
            </a:extLst>
          </p:cNvPr>
          <p:cNvSpPr>
            <a:spLocks xmlns:a="http://schemas.openxmlformats.org/drawingml/2006/main" noGrp="1"/>
          </p:cNvSpPr>
          <p:nvPr/>
        </p:nvSpPr>
        <p:spPr>
          <a:xfrm xmlns:a="http://schemas.openxmlformats.org/drawingml/2006/main">
            <a:off x="647700" y="2695575"/>
            <a:ext cx="46863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Рекрутер читает разрозненные резюме, повторно спрашивает об опыте и вручную собирает ответы.</a:t>
            </a:r>
          </a:p>
        </p:txBody>
      </p:sp>
      <p:sp>
        <p:nvSpPr>
          <p:cNvPr id="6" name="text-5-208">
            <a:extLst xmlns:a="http://schemas.openxmlformats.org/drawingml/2006/main">
              <a:ext uri="{FF2B5EF4-FFF2-40B4-BE49-F238E27FC236}">
                <a16:creationId xmlns:a16="http://schemas.microsoft.com/office/drawing/2014/main" id="{303D4045-9709-40AF-8247-40E59D25A4E5}"/>
              </a:ext>
            </a:extLst>
          </p:cNvPr>
          <p:cNvSpPr>
            <a:spLocks xmlns:a="http://schemas.openxmlformats.org/drawingml/2006/main" noGrp="1"/>
          </p:cNvSpPr>
          <p:nvPr/>
        </p:nvSpPr>
        <p:spPr>
          <a:xfrm xmlns:a="http://schemas.openxmlformats.org/drawingml/2006/main">
            <a:off x="6267450" y="19812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B74"/>
                </a:solidFill>
                <a:latin typeface="Arial"/>
                <a:ea typeface="Arial"/>
                <a:cs typeface="Arial"/>
              </a:defRPr>
            </a:pPr>
            <a:r>
              <a:rPr sz="2400" b="1">
                <a:solidFill>
                  <a:srgbClr val="087B74"/>
                </a:solidFill>
                <a:latin typeface="Arial"/>
                <a:ea typeface="Arial"/>
                <a:cs typeface="Arial"/>
              </a:rPr>
              <a:t>С нашим ботом</a:t>
            </a:r>
          </a:p>
        </p:txBody>
      </p:sp>
      <p:sp>
        <p:nvSpPr>
          <p:cNvPr id="7" name="text-6-283">
            <a:extLst xmlns:a="http://schemas.openxmlformats.org/drawingml/2006/main">
              <a:ext uri="{FF2B5EF4-FFF2-40B4-BE49-F238E27FC236}">
                <a16:creationId xmlns:a16="http://schemas.microsoft.com/office/drawing/2014/main" id="{D64DAF74-19F6-48E3-B977-70142D89362B}"/>
              </a:ext>
            </a:extLst>
          </p:cNvPr>
          <p:cNvSpPr>
            <a:spLocks xmlns:a="http://schemas.openxmlformats.org/drawingml/2006/main" noGrp="1"/>
          </p:cNvSpPr>
          <p:nvPr/>
        </p:nvSpPr>
        <p:spPr>
          <a:xfrm xmlns:a="http://schemas.openxmlformats.org/drawingml/2006/main">
            <a:off x="6267450" y="2695575"/>
            <a:ext cx="523875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По каждой вакансии он получает одинаковую структуру карточки и видит, что уже известно, а что нужно уточнить.</a:t>
            </a:r>
          </a:p>
        </p:txBody>
      </p:sp>
      <p:sp>
        <p:nvSpPr>
          <p:cNvPr id="8" name="text-7-572">
            <a:extLst xmlns:a="http://schemas.openxmlformats.org/drawingml/2006/main">
              <a:ext uri="{FF2B5EF4-FFF2-40B4-BE49-F238E27FC236}">
                <a16:creationId xmlns:a16="http://schemas.microsoft.com/office/drawing/2014/main" id="{BEA52235-F1EC-4F30-BDA4-E2EFC903EFC7}"/>
              </a:ext>
            </a:extLst>
          </p:cNvPr>
          <p:cNvSpPr>
            <a:spLocks xmlns:a="http://schemas.openxmlformats.org/drawingml/2006/main" noGrp="1"/>
          </p:cNvSpPr>
          <p:nvPr/>
        </p:nvSpPr>
        <p:spPr>
          <a:xfrm xmlns:a="http://schemas.openxmlformats.org/drawingml/2006/main">
            <a:off x="647700" y="5448300"/>
            <a:ext cx="10896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87B74"/>
                </a:solidFill>
                <a:latin typeface="Arial"/>
                <a:ea typeface="Arial"/>
                <a:cs typeface="Arial"/>
              </a:defRPr>
            </a:pPr>
            <a:r>
              <a:rPr sz="2325" b="1">
                <a:solidFill>
                  <a:srgbClr val="087B74"/>
                </a:solidFill>
                <a:latin typeface="Arial"/>
                <a:ea typeface="Arial"/>
                <a:cs typeface="Arial"/>
              </a:rPr>
              <a:t>Первый пилот: junior Python и аналитика данных.</a:t>
            </a:r>
          </a:p>
        </p:txBody>
      </p:sp>
    </p:spTree>
    <p:extLst>
      <p:ext uri="{BB962C8B-B14F-4D97-AF65-F5344CB8AC3E}">
        <p14:creationId xmlns:p14="http://schemas.microsoft.com/office/powerpoint/2010/main" val="1477907966"/>
      </p:ext>
    </p:extLst>
  </p:cSld>
</p:sld>
</file>

<file path=ppt/slides/slide4.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16" name="text-0-55">
            <a:extLst xmlns:a="http://schemas.openxmlformats.org/drawingml/2006/main">
              <a:ext uri="{FF2B5EF4-FFF2-40B4-BE49-F238E27FC236}">
                <a16:creationId xmlns:a16="http://schemas.microsoft.com/office/drawing/2014/main" id="{EA631253-0BE0-4ECC-99E1-A3E92DF8B604}"/>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Один отклик от вакансии до интервью</a:t>
            </a:r>
          </a:p>
        </p:txBody>
      </p:sp>
      <p:sp>
        <p:nvSpPr>
          <p:cNvPr id="2" name="text-1-666">
            <a:extLst xmlns:a="http://schemas.openxmlformats.org/drawingml/2006/main">
              <a:ext uri="{FF2B5EF4-FFF2-40B4-BE49-F238E27FC236}">
                <a16:creationId xmlns:a16="http://schemas.microsoft.com/office/drawing/2014/main" id="{5416A989-556B-4352-BEE2-43B7ECE1EC27}"/>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the_swarm</a:t>
            </a:r>
          </a:p>
        </p:txBody>
      </p:sp>
      <p:sp>
        <p:nvSpPr>
          <p:cNvPr id="3" name="text-2-666">
            <a:extLst xmlns:a="http://schemas.openxmlformats.org/drawingml/2006/main">
              <a:ext uri="{FF2B5EF4-FFF2-40B4-BE49-F238E27FC236}">
                <a16:creationId xmlns:a16="http://schemas.microsoft.com/office/drawing/2014/main" id="{14FE7403-8BE0-4FAA-A712-880E68423D9F}"/>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04</a:t>
            </a:r>
          </a:p>
        </p:txBody>
      </p:sp>
      <p:sp>
        <p:nvSpPr>
          <p:cNvPr id="4" name="text-3-177">
            <a:extLst xmlns:a="http://schemas.openxmlformats.org/drawingml/2006/main">
              <a:ext uri="{FF2B5EF4-FFF2-40B4-BE49-F238E27FC236}">
                <a16:creationId xmlns:a16="http://schemas.microsoft.com/office/drawing/2014/main" id="{133B81BC-7544-4C90-855A-13474219EA2B}"/>
              </a:ext>
            </a:extLst>
          </p:cNvPr>
          <p:cNvSpPr>
            <a:spLocks xmlns:a="http://schemas.openxmlformats.org/drawingml/2006/main" noGrp="1"/>
          </p:cNvSpPr>
          <p:nvPr/>
        </p:nvSpPr>
        <p:spPr>
          <a:xfrm xmlns:a="http://schemas.openxmlformats.org/drawingml/2006/main">
            <a:off x="647700" y="1685925"/>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087B74"/>
                </a:solidFill>
                <a:latin typeface="Arial"/>
                <a:ea typeface="Arial"/>
                <a:cs typeface="Arial"/>
              </a:defRPr>
            </a:pPr>
            <a:r>
              <a:rPr sz="3225" b="1">
                <a:solidFill>
                  <a:srgbClr val="087B74"/>
                </a:solidFill>
                <a:latin typeface="Arial"/>
                <a:ea typeface="Arial"/>
                <a:cs typeface="Arial"/>
              </a:rPr>
              <a:t>01</a:t>
            </a:r>
          </a:p>
        </p:txBody>
      </p:sp>
      <p:sp>
        <p:nvSpPr>
          <p:cNvPr id="5" name="text-4-177">
            <a:extLst xmlns:a="http://schemas.openxmlformats.org/drawingml/2006/main">
              <a:ext uri="{FF2B5EF4-FFF2-40B4-BE49-F238E27FC236}">
                <a16:creationId xmlns:a16="http://schemas.microsoft.com/office/drawing/2014/main" id="{27496B66-DC7F-4A72-9FAE-515506470D19}"/>
              </a:ext>
            </a:extLst>
          </p:cNvPr>
          <p:cNvSpPr>
            <a:spLocks xmlns:a="http://schemas.openxmlformats.org/drawingml/2006/main" noGrp="1"/>
          </p:cNvSpPr>
          <p:nvPr/>
        </p:nvSpPr>
        <p:spPr>
          <a:xfrm xmlns:a="http://schemas.openxmlformats.org/drawingml/2006/main">
            <a:off x="1590675" y="1685925"/>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52B36"/>
                </a:solidFill>
                <a:latin typeface="Arial"/>
                <a:ea typeface="Arial"/>
                <a:cs typeface="Arial"/>
              </a:defRPr>
            </a:pPr>
            <a:r>
              <a:rPr sz="2175" b="1">
                <a:solidFill>
                  <a:srgbClr val="152B36"/>
                </a:solidFill>
                <a:latin typeface="Arial"/>
                <a:ea typeface="Arial"/>
                <a:cs typeface="Arial"/>
              </a:rPr>
              <a:t>Работодатель</a:t>
            </a:r>
          </a:p>
        </p:txBody>
      </p:sp>
      <p:sp>
        <p:nvSpPr>
          <p:cNvPr id="6" name="text-5-221">
            <a:extLst xmlns:a="http://schemas.openxmlformats.org/drawingml/2006/main">
              <a:ext uri="{FF2B5EF4-FFF2-40B4-BE49-F238E27FC236}">
                <a16:creationId xmlns:a16="http://schemas.microsoft.com/office/drawing/2014/main" id="{DD78990B-D66D-4F94-A97A-C53F2E843F5C}"/>
              </a:ext>
            </a:extLst>
          </p:cNvPr>
          <p:cNvSpPr>
            <a:spLocks xmlns:a="http://schemas.openxmlformats.org/drawingml/2006/main" noGrp="1"/>
          </p:cNvSpPr>
          <p:nvPr/>
        </p:nvSpPr>
        <p:spPr>
          <a:xfrm xmlns:a="http://schemas.openxmlformats.org/drawingml/2006/main">
            <a:off x="1590675" y="2105025"/>
            <a:ext cx="981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52B36"/>
                </a:solidFill>
                <a:latin typeface="Arial"/>
                <a:ea typeface="Arial"/>
                <a:cs typeface="Arial"/>
              </a:defRPr>
            </a:pPr>
            <a:r>
              <a:rPr sz="2025" b="0">
                <a:solidFill>
                  <a:srgbClr val="152B36"/>
                </a:solidFill>
                <a:latin typeface="Arial"/>
                <a:ea typeface="Arial"/>
                <a:cs typeface="Arial"/>
              </a:rPr>
              <a:t>Подтверждает требования, добавляет тест и делится ссылкой.</a:t>
            </a:r>
          </a:p>
        </p:txBody>
      </p:sp>
      <p:sp>
        <p:nvSpPr>
          <p:cNvPr id="7" name="text-6-282">
            <a:extLst xmlns:a="http://schemas.openxmlformats.org/drawingml/2006/main">
              <a:ext uri="{FF2B5EF4-FFF2-40B4-BE49-F238E27FC236}">
                <a16:creationId xmlns:a16="http://schemas.microsoft.com/office/drawing/2014/main" id="{FD8E29C5-851E-476C-B42B-FE322A21D323}"/>
              </a:ext>
            </a:extLst>
          </p:cNvPr>
          <p:cNvSpPr>
            <a:spLocks xmlns:a="http://schemas.openxmlformats.org/drawingml/2006/main" noGrp="1"/>
          </p:cNvSpPr>
          <p:nvPr/>
        </p:nvSpPr>
        <p:spPr>
          <a:xfrm xmlns:a="http://schemas.openxmlformats.org/drawingml/2006/main">
            <a:off x="647700" y="2686050"/>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087B74"/>
                </a:solidFill>
                <a:latin typeface="Arial"/>
                <a:ea typeface="Arial"/>
                <a:cs typeface="Arial"/>
              </a:defRPr>
            </a:pPr>
            <a:r>
              <a:rPr sz="3225" b="1">
                <a:solidFill>
                  <a:srgbClr val="087B74"/>
                </a:solidFill>
                <a:latin typeface="Arial"/>
                <a:ea typeface="Arial"/>
                <a:cs typeface="Arial"/>
              </a:rPr>
              <a:t>02</a:t>
            </a:r>
          </a:p>
        </p:txBody>
      </p:sp>
      <p:sp>
        <p:nvSpPr>
          <p:cNvPr id="8" name="text-7-282">
            <a:extLst xmlns:a="http://schemas.openxmlformats.org/drawingml/2006/main">
              <a:ext uri="{FF2B5EF4-FFF2-40B4-BE49-F238E27FC236}">
                <a16:creationId xmlns:a16="http://schemas.microsoft.com/office/drawing/2014/main" id="{82B00275-BDFE-4265-95E5-875908811862}"/>
              </a:ext>
            </a:extLst>
          </p:cNvPr>
          <p:cNvSpPr>
            <a:spLocks xmlns:a="http://schemas.openxmlformats.org/drawingml/2006/main" noGrp="1"/>
          </p:cNvSpPr>
          <p:nvPr/>
        </p:nvSpPr>
        <p:spPr>
          <a:xfrm xmlns:a="http://schemas.openxmlformats.org/drawingml/2006/main">
            <a:off x="1590675" y="2686050"/>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52B36"/>
                </a:solidFill>
                <a:latin typeface="Arial"/>
                <a:ea typeface="Arial"/>
                <a:cs typeface="Arial"/>
              </a:defRPr>
            </a:pPr>
            <a:r>
              <a:rPr sz="2175" b="1">
                <a:solidFill>
                  <a:srgbClr val="152B36"/>
                </a:solidFill>
                <a:latin typeface="Arial"/>
                <a:ea typeface="Arial"/>
                <a:cs typeface="Arial"/>
              </a:rPr>
              <a:t>Кандидат</a:t>
            </a:r>
          </a:p>
        </p:txBody>
      </p:sp>
      <p:sp>
        <p:nvSpPr>
          <p:cNvPr id="9" name="text-8-326">
            <a:extLst xmlns:a="http://schemas.openxmlformats.org/drawingml/2006/main">
              <a:ext uri="{FF2B5EF4-FFF2-40B4-BE49-F238E27FC236}">
                <a16:creationId xmlns:a16="http://schemas.microsoft.com/office/drawing/2014/main" id="{4EDF78A2-E937-4970-8611-BDFEC3B4918A}"/>
              </a:ext>
            </a:extLst>
          </p:cNvPr>
          <p:cNvSpPr>
            <a:spLocks xmlns:a="http://schemas.openxmlformats.org/drawingml/2006/main" noGrp="1"/>
          </p:cNvSpPr>
          <p:nvPr/>
        </p:nvSpPr>
        <p:spPr>
          <a:xfrm xmlns:a="http://schemas.openxmlformats.org/drawingml/2006/main">
            <a:off x="1590675" y="3105150"/>
            <a:ext cx="981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52B36"/>
                </a:solidFill>
                <a:latin typeface="Arial"/>
                <a:ea typeface="Arial"/>
                <a:cs typeface="Arial"/>
              </a:defRPr>
            </a:pPr>
            <a:r>
              <a:rPr sz="2025" b="0">
                <a:solidFill>
                  <a:srgbClr val="152B36"/>
                </a:solidFill>
                <a:latin typeface="Arial"/>
                <a:ea typeface="Arial"/>
                <a:cs typeface="Arial"/>
              </a:rPr>
              <a:t>Даёт согласие, присылает опыт и отвечает на уточнения.</a:t>
            </a:r>
          </a:p>
        </p:txBody>
      </p:sp>
      <p:sp>
        <p:nvSpPr>
          <p:cNvPr id="10" name="text-9-387">
            <a:extLst xmlns:a="http://schemas.openxmlformats.org/drawingml/2006/main">
              <a:ext uri="{FF2B5EF4-FFF2-40B4-BE49-F238E27FC236}">
                <a16:creationId xmlns:a16="http://schemas.microsoft.com/office/drawing/2014/main" id="{1C719F23-2484-400D-97C4-98A10CF20507}"/>
              </a:ext>
            </a:extLst>
          </p:cNvPr>
          <p:cNvSpPr>
            <a:spLocks xmlns:a="http://schemas.openxmlformats.org/drawingml/2006/main" noGrp="1"/>
          </p:cNvSpPr>
          <p:nvPr/>
        </p:nvSpPr>
        <p:spPr>
          <a:xfrm xmlns:a="http://schemas.openxmlformats.org/drawingml/2006/main">
            <a:off x="647700" y="3686175"/>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087B74"/>
                </a:solidFill>
                <a:latin typeface="Arial"/>
                <a:ea typeface="Arial"/>
                <a:cs typeface="Arial"/>
              </a:defRPr>
            </a:pPr>
            <a:r>
              <a:rPr sz="3225" b="1">
                <a:solidFill>
                  <a:srgbClr val="087B74"/>
                </a:solidFill>
                <a:latin typeface="Arial"/>
                <a:ea typeface="Arial"/>
                <a:cs typeface="Arial"/>
              </a:rPr>
              <a:t>03</a:t>
            </a:r>
          </a:p>
        </p:txBody>
      </p:sp>
      <p:sp>
        <p:nvSpPr>
          <p:cNvPr id="11" name="text-10-387">
            <a:extLst xmlns:a="http://schemas.openxmlformats.org/drawingml/2006/main">
              <a:ext uri="{FF2B5EF4-FFF2-40B4-BE49-F238E27FC236}">
                <a16:creationId xmlns:a16="http://schemas.microsoft.com/office/drawing/2014/main" id="{A0C84ABD-2BBA-4AF4-98AD-873DB87699E8}"/>
              </a:ext>
            </a:extLst>
          </p:cNvPr>
          <p:cNvSpPr>
            <a:spLocks xmlns:a="http://schemas.openxmlformats.org/drawingml/2006/main" noGrp="1"/>
          </p:cNvSpPr>
          <p:nvPr/>
        </p:nvSpPr>
        <p:spPr>
          <a:xfrm xmlns:a="http://schemas.openxmlformats.org/drawingml/2006/main">
            <a:off x="1590675" y="3686175"/>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52B36"/>
                </a:solidFill>
                <a:latin typeface="Arial"/>
                <a:ea typeface="Arial"/>
                <a:cs typeface="Arial"/>
              </a:defRPr>
            </a:pPr>
            <a:r>
              <a:rPr sz="2175" b="1">
                <a:solidFill>
                  <a:srgbClr val="152B36"/>
                </a:solidFill>
                <a:latin typeface="Arial"/>
                <a:ea typeface="Arial"/>
                <a:cs typeface="Arial"/>
              </a:rPr>
              <a:t>Рекрутер</a:t>
            </a:r>
          </a:p>
        </p:txBody>
      </p:sp>
      <p:sp>
        <p:nvSpPr>
          <p:cNvPr id="12" name="text-11-431">
            <a:extLst xmlns:a="http://schemas.openxmlformats.org/drawingml/2006/main">
              <a:ext uri="{FF2B5EF4-FFF2-40B4-BE49-F238E27FC236}">
                <a16:creationId xmlns:a16="http://schemas.microsoft.com/office/drawing/2014/main" id="{42ED80E9-413E-4231-BFF6-A6617AA603B9}"/>
              </a:ext>
            </a:extLst>
          </p:cNvPr>
          <p:cNvSpPr>
            <a:spLocks xmlns:a="http://schemas.openxmlformats.org/drawingml/2006/main" noGrp="1"/>
          </p:cNvSpPr>
          <p:nvPr/>
        </p:nvSpPr>
        <p:spPr>
          <a:xfrm xmlns:a="http://schemas.openxmlformats.org/drawingml/2006/main">
            <a:off x="1590675" y="4105275"/>
            <a:ext cx="981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52B36"/>
                </a:solidFill>
                <a:latin typeface="Arial"/>
                <a:ea typeface="Arial"/>
                <a:cs typeface="Arial"/>
              </a:defRPr>
            </a:pPr>
            <a:r>
              <a:rPr sz="2025" b="0">
                <a:solidFill>
                  <a:srgbClr val="152B36"/>
                </a:solidFill>
                <a:latin typeface="Arial"/>
                <a:ea typeface="Arial"/>
                <a:cs typeface="Arial"/>
              </a:rPr>
              <a:t>Читает цитаты и ответы. При необходимости открывает GitHub-обзор.</a:t>
            </a:r>
          </a:p>
        </p:txBody>
      </p:sp>
      <p:sp>
        <p:nvSpPr>
          <p:cNvPr id="13" name="text-12-492">
            <a:extLst xmlns:a="http://schemas.openxmlformats.org/drawingml/2006/main">
              <a:ext uri="{FF2B5EF4-FFF2-40B4-BE49-F238E27FC236}">
                <a16:creationId xmlns:a16="http://schemas.microsoft.com/office/drawing/2014/main" id="{754FA5B3-496E-4C79-83D2-1F0DBC33F4FE}"/>
              </a:ext>
            </a:extLst>
          </p:cNvPr>
          <p:cNvSpPr>
            <a:spLocks xmlns:a="http://schemas.openxmlformats.org/drawingml/2006/main" noGrp="1"/>
          </p:cNvSpPr>
          <p:nvPr/>
        </p:nvSpPr>
        <p:spPr>
          <a:xfrm xmlns:a="http://schemas.openxmlformats.org/drawingml/2006/main">
            <a:off x="647700" y="4686300"/>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087B74"/>
                </a:solidFill>
                <a:latin typeface="Arial"/>
                <a:ea typeface="Arial"/>
                <a:cs typeface="Arial"/>
              </a:defRPr>
            </a:pPr>
            <a:r>
              <a:rPr sz="3225" b="1">
                <a:solidFill>
                  <a:srgbClr val="087B74"/>
                </a:solidFill>
                <a:latin typeface="Arial"/>
                <a:ea typeface="Arial"/>
                <a:cs typeface="Arial"/>
              </a:rPr>
              <a:t>04</a:t>
            </a:r>
          </a:p>
        </p:txBody>
      </p:sp>
      <p:sp>
        <p:nvSpPr>
          <p:cNvPr id="14" name="text-13-492">
            <a:extLst xmlns:a="http://schemas.openxmlformats.org/drawingml/2006/main">
              <a:ext uri="{FF2B5EF4-FFF2-40B4-BE49-F238E27FC236}">
                <a16:creationId xmlns:a16="http://schemas.microsoft.com/office/drawing/2014/main" id="{2FA3ABAD-8412-4AD9-B70E-E6FA34AE3934}"/>
              </a:ext>
            </a:extLst>
          </p:cNvPr>
          <p:cNvSpPr>
            <a:spLocks xmlns:a="http://schemas.openxmlformats.org/drawingml/2006/main" noGrp="1"/>
          </p:cNvSpPr>
          <p:nvPr/>
        </p:nvSpPr>
        <p:spPr>
          <a:xfrm xmlns:a="http://schemas.openxmlformats.org/drawingml/2006/main">
            <a:off x="1590675" y="4686300"/>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52B36"/>
                </a:solidFill>
                <a:latin typeface="Arial"/>
                <a:ea typeface="Arial"/>
                <a:cs typeface="Arial"/>
              </a:defRPr>
            </a:pPr>
            <a:r>
              <a:rPr sz="2175" b="1">
                <a:solidFill>
                  <a:srgbClr val="152B36"/>
                </a:solidFill>
                <a:latin typeface="Arial"/>
                <a:ea typeface="Arial"/>
                <a:cs typeface="Arial"/>
              </a:rPr>
              <a:t>Оба участника</a:t>
            </a:r>
          </a:p>
        </p:txBody>
      </p:sp>
      <p:sp>
        <p:nvSpPr>
          <p:cNvPr id="15" name="text-14-536">
            <a:extLst xmlns:a="http://schemas.openxmlformats.org/drawingml/2006/main">
              <a:ext uri="{FF2B5EF4-FFF2-40B4-BE49-F238E27FC236}">
                <a16:creationId xmlns:a16="http://schemas.microsoft.com/office/drawing/2014/main" id="{84E355EC-8D07-4B69-89DE-4B6B345A9322}"/>
              </a:ext>
            </a:extLst>
          </p:cNvPr>
          <p:cNvSpPr>
            <a:spLocks xmlns:a="http://schemas.openxmlformats.org/drawingml/2006/main" noGrp="1"/>
          </p:cNvSpPr>
          <p:nvPr/>
        </p:nvSpPr>
        <p:spPr>
          <a:xfrm xmlns:a="http://schemas.openxmlformats.org/drawingml/2006/main">
            <a:off x="1590675" y="5105400"/>
            <a:ext cx="981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52B36"/>
                </a:solidFill>
                <a:latin typeface="Arial"/>
                <a:ea typeface="Arial"/>
                <a:cs typeface="Arial"/>
              </a:defRPr>
            </a:pPr>
            <a:r>
              <a:rPr sz="2025" b="0">
                <a:solidFill>
                  <a:srgbClr val="152B36"/>
                </a:solidFill>
                <a:latin typeface="Arial"/>
                <a:ea typeface="Arial"/>
                <a:cs typeface="Arial"/>
              </a:rPr>
              <a:t>Работодатель приглашает, кандидат подтверждает интерес.</a:t>
            </a:r>
          </a:p>
        </p:txBody>
      </p:sp>
    </p:spTree>
    <p:extLst>
      <p:ext uri="{BB962C8B-B14F-4D97-AF65-F5344CB8AC3E}">
        <p14:creationId xmlns:p14="http://schemas.microsoft.com/office/powerpoint/2010/main" val="991297356"/>
      </p:ext>
    </p:extLst>
  </p:cSld>
</p:sld>
</file>

<file path=ppt/slides/slide5.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7" name="text-0-55">
            <a:extLst xmlns:a="http://schemas.openxmlformats.org/drawingml/2006/main">
              <a:ext uri="{FF2B5EF4-FFF2-40B4-BE49-F238E27FC236}">
                <a16:creationId xmlns:a16="http://schemas.microsoft.com/office/drawing/2014/main" id="{F77C81BA-4DE5-44E7-9C9E-41D937863CD2}"/>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Карточка объясняет каждый вывод</a:t>
            </a:r>
          </a:p>
        </p:txBody>
      </p:sp>
      <p:sp>
        <p:nvSpPr>
          <p:cNvPr id="2" name="text-1-666">
            <a:extLst xmlns:a="http://schemas.openxmlformats.org/drawingml/2006/main">
              <a:ext uri="{FF2B5EF4-FFF2-40B4-BE49-F238E27FC236}">
                <a16:creationId xmlns:a16="http://schemas.microsoft.com/office/drawing/2014/main" id="{97A730B7-AFDF-4519-A615-DFEB1A7BBEFB}"/>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the_swarm</a:t>
            </a:r>
          </a:p>
        </p:txBody>
      </p:sp>
      <p:sp>
        <p:nvSpPr>
          <p:cNvPr id="3" name="text-2-666">
            <a:extLst xmlns:a="http://schemas.openxmlformats.org/drawingml/2006/main">
              <a:ext uri="{FF2B5EF4-FFF2-40B4-BE49-F238E27FC236}">
                <a16:creationId xmlns:a16="http://schemas.microsoft.com/office/drawing/2014/main" id="{154EFA18-7652-4D28-8945-EE258FF483FD}"/>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05</a:t>
            </a:r>
          </a:p>
        </p:txBody>
      </p:sp>
      <p:sp>
        <p:nvSpPr>
          <p:cNvPr id="4" name="text-3-160">
            <a:extLst xmlns:a="http://schemas.openxmlformats.org/drawingml/2006/main">
              <a:ext uri="{FF2B5EF4-FFF2-40B4-BE49-F238E27FC236}">
                <a16:creationId xmlns:a16="http://schemas.microsoft.com/office/drawing/2014/main" id="{30BC7E88-8968-41CD-9E70-561012D0EE93}"/>
              </a:ext>
            </a:extLst>
          </p:cNvPr>
          <p:cNvSpPr>
            <a:spLocks xmlns:a="http://schemas.openxmlformats.org/drawingml/2006/main" noGrp="1"/>
          </p:cNvSpPr>
          <p:nvPr/>
        </p:nvSpPr>
        <p:spPr>
          <a:xfrm xmlns:a="http://schemas.openxmlformats.org/drawingml/2006/main">
            <a:off x="647700" y="1524000"/>
            <a:ext cx="10896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Учебный пример: «Разработал сервис на питоне. Использовал postres. Docker не знаю».</a:t>
            </a:r>
          </a:p>
        </p:txBody>
      </p:sp>
      <p:graphicFrame>
        <p:nvGraphicFramePr>
          <p:cNvPr id="11" name=""/>
          <p:cNvGraphicFramePr/>
          <p:nvPr/>
        </p:nvGraphicFramePr>
        <p:xfrm>
          <a:off xmlns:a="http://schemas.openxmlformats.org/drawingml/2006/main" x="647700" y="2505075"/>
          <a:ext xmlns:a="http://schemas.openxmlformats.org/drawingml/2006/main" cx="10896600" cy="2571750"/>
        </p:xfrm>
        <a:graphic xmlns:a="http://schemas.openxmlformats.org/drawingml/2006/main">
          <a:graphicData uri="http://schemas.openxmlformats.org/drawingml/2006/table">
            <a:tbl>
              <a:tblPr/>
              <a:tblGrid>
                <a:gridCol w="2190750"/>
                <a:gridCol w="3333750"/>
                <a:gridCol w="5372100"/>
              </a:tblGrid>
              <a:tr h="642938">
                <a:tc>
                  <a:txBody>
                    <a:bodyPr/>
                    <a:lstStyle/>
                    <a:p>
                      <a:r>
                        <a:rPr sz="1950" b="1">
                          <a:solidFill>
                            <a:srgbClr val="FFFFFF"/>
                          </a:solidFill>
                          <a:latin typeface="Arial"/>
                          <a:ea typeface="Arial"/>
                          <a:cs typeface="Arial"/>
                        </a:rPr>
                        <a:t>Требование</a:t>
                      </a:r>
                    </a:p>
                  </a:txBody>
                  <a:tcPr marL="142875" marR="142875" marT="114300" marB="114300" anchor="ctr">
                    <a:solidFill>
                      <a:srgbClr val="102C37"/>
                    </a:solidFill>
                  </a:tcPr>
                </a:tc>
                <a:tc>
                  <a:txBody>
                    <a:bodyPr/>
                    <a:lstStyle/>
                    <a:p>
                      <a:r>
                        <a:rPr sz="1950" b="1">
                          <a:solidFill>
                            <a:srgbClr val="FFFFFF"/>
                          </a:solidFill>
                          <a:latin typeface="Arial"/>
                          <a:ea typeface="Arial"/>
                          <a:cs typeface="Arial"/>
                        </a:rPr>
                        <a:t>Сигнал</a:t>
                      </a:r>
                    </a:p>
                  </a:txBody>
                  <a:tcPr marL="142875" marR="142875" marT="114300" marB="114300" anchor="ctr">
                    <a:solidFill>
                      <a:srgbClr val="102C37"/>
                    </a:solidFill>
                  </a:tcPr>
                </a:tc>
                <a:tc>
                  <a:txBody>
                    <a:bodyPr/>
                    <a:lstStyle/>
                    <a:p>
                      <a:r>
                        <a:rPr sz="1950" b="1">
                          <a:solidFill>
                            <a:srgbClr val="FFFFFF"/>
                          </a:solidFill>
                          <a:latin typeface="Arial"/>
                          <a:ea typeface="Arial"/>
                          <a:cs typeface="Arial"/>
                        </a:rPr>
                        <a:t>Основание</a:t>
                      </a:r>
                    </a:p>
                  </a:txBody>
                  <a:tcPr marL="142875" marR="142875" marT="114300" marB="114300" anchor="ctr">
                    <a:solidFill>
                      <a:srgbClr val="102C37"/>
                    </a:solidFill>
                  </a:tcPr>
                </a:tc>
              </a:tr>
              <a:tr h="642938">
                <a:tc>
                  <a:txBody>
                    <a:bodyPr/>
                    <a:lstStyle/>
                    <a:p>
                      <a:r>
                        <a:rPr sz="1950" b="0">
                          <a:solidFill>
                            <a:srgbClr val="152B36"/>
                          </a:solidFill>
                          <a:latin typeface="Arial"/>
                          <a:ea typeface="Arial"/>
                          <a:cs typeface="Arial"/>
                        </a:rPr>
                        <a:t>Python</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Прямое упоминание</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«сервис на питоне»</a:t>
                      </a:r>
                    </a:p>
                  </a:txBody>
                  <a:tcPr marL="142875" marR="142875" marT="114300" marB="114300" anchor="ctr">
                    <a:solidFill>
                      <a:srgbClr val="F4F5F1"/>
                    </a:solidFill>
                  </a:tcPr>
                </a:tc>
              </a:tr>
              <a:tr h="642938">
                <a:tc>
                  <a:txBody>
                    <a:bodyPr/>
                    <a:lstStyle/>
                    <a:p>
                      <a:r>
                        <a:rPr sz="1950" b="0">
                          <a:solidFill>
                            <a:srgbClr val="152B36"/>
                          </a:solidFill>
                          <a:latin typeface="Arial"/>
                          <a:ea typeface="Arial"/>
                          <a:cs typeface="Arial"/>
                        </a:rPr>
                        <a:t>SQL</a:t>
                      </a:r>
                    </a:p>
                  </a:txBody>
                  <a:tcPr marL="142875" marR="142875" marT="114300" marB="114300" anchor="ctr">
                    <a:solidFill>
                      <a:srgbClr val="E9EEEA"/>
                    </a:solidFill>
                  </a:tcPr>
                </a:tc>
                <a:tc>
                  <a:txBody>
                    <a:bodyPr/>
                    <a:lstStyle/>
                    <a:p>
                      <a:r>
                        <a:rPr sz="1950" b="0">
                          <a:solidFill>
                            <a:srgbClr val="152B36"/>
                          </a:solidFill>
                          <a:latin typeface="Arial"/>
                          <a:ea typeface="Arial"/>
                          <a:cs typeface="Arial"/>
                        </a:rPr>
                        <a:t>Косвенный признак</a:t>
                      </a:r>
                    </a:p>
                  </a:txBody>
                  <a:tcPr marL="142875" marR="142875" marT="114300" marB="114300" anchor="ctr">
                    <a:solidFill>
                      <a:srgbClr val="E9EEEA"/>
                    </a:solidFill>
                  </a:tcPr>
                </a:tc>
                <a:tc>
                  <a:txBody>
                    <a:bodyPr/>
                    <a:lstStyle/>
                    <a:p>
                      <a:r>
                        <a:rPr sz="1950" b="0">
                          <a:solidFill>
                            <a:srgbClr val="152B36"/>
                          </a:solidFill>
                          <a:latin typeface="Arial"/>
                          <a:ea typeface="Arial"/>
                          <a:cs typeface="Arial"/>
                        </a:rPr>
                        <a:t>«Использовал postres»</a:t>
                      </a:r>
                    </a:p>
                  </a:txBody>
                  <a:tcPr marL="142875" marR="142875" marT="114300" marB="114300" anchor="ctr">
                    <a:solidFill>
                      <a:srgbClr val="E9EEEA"/>
                    </a:solidFill>
                  </a:tcPr>
                </a:tc>
              </a:tr>
              <a:tr h="642938">
                <a:tc>
                  <a:txBody>
                    <a:bodyPr/>
                    <a:lstStyle/>
                    <a:p>
                      <a:r>
                        <a:rPr sz="1950" b="0">
                          <a:solidFill>
                            <a:srgbClr val="152B36"/>
                          </a:solidFill>
                          <a:latin typeface="Arial"/>
                          <a:ea typeface="Arial"/>
                          <a:cs typeface="Arial"/>
                        </a:rPr>
                        <a:t>Docker</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Явное отрицание</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«Docker не знаю»</a:t>
                      </a:r>
                    </a:p>
                  </a:txBody>
                  <a:tcPr marL="142875" marR="142875" marT="114300" marB="114300" anchor="ctr">
                    <a:solidFill>
                      <a:srgbClr val="F4F5F1"/>
                    </a:solidFill>
                  </a:tcPr>
                </a:tc>
              </a:tr>
            </a:tbl>
          </a:graphicData>
        </a:graphic>
      </p:graphicFrame>
      <p:sp>
        <p:nvSpPr>
          <p:cNvPr id="6" name="text-4-568">
            <a:extLst xmlns:a="http://schemas.openxmlformats.org/drawingml/2006/main">
              <a:ext uri="{FF2B5EF4-FFF2-40B4-BE49-F238E27FC236}">
                <a16:creationId xmlns:a16="http://schemas.microsoft.com/office/drawing/2014/main" id="{CFF43DAE-2E49-474E-93A6-B6B7D5695FCC}"/>
              </a:ext>
            </a:extLst>
          </p:cNvPr>
          <p:cNvSpPr>
            <a:spLocks xmlns:a="http://schemas.openxmlformats.org/drawingml/2006/main" noGrp="1"/>
          </p:cNvSpPr>
          <p:nvPr/>
        </p:nvSpPr>
        <p:spPr>
          <a:xfrm xmlns:a="http://schemas.openxmlformats.org/drawingml/2006/main">
            <a:off x="647700" y="54102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87B74"/>
                </a:solidFill>
                <a:latin typeface="Arial"/>
                <a:ea typeface="Arial"/>
                <a:cs typeface="Arial"/>
              </a:defRPr>
            </a:pPr>
            <a:r>
              <a:rPr sz="2175" b="1">
                <a:solidFill>
                  <a:srgbClr val="087B74"/>
                </a:solidFill>
                <a:latin typeface="Arial"/>
                <a:ea typeface="Arial"/>
                <a:cs typeface="Arial"/>
              </a:rPr>
              <a:t>Косвенный признак требует уточнения. Автоматического отказа нет.</a:t>
            </a:r>
          </a:p>
        </p:txBody>
      </p:sp>
    </p:spTree>
    <p:extLst>
      <p:ext uri="{BB962C8B-B14F-4D97-AF65-F5344CB8AC3E}">
        <p14:creationId xmlns:p14="http://schemas.microsoft.com/office/powerpoint/2010/main" val="1814384669"/>
      </p:ext>
    </p:extLst>
  </p:cSld>
</p:sld>
</file>

<file path=ppt/slides/slide6.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9" name="text-0-55">
            <a:extLst xmlns:a="http://schemas.openxmlformats.org/drawingml/2006/main">
              <a:ext uri="{FF2B5EF4-FFF2-40B4-BE49-F238E27FC236}">
                <a16:creationId xmlns:a16="http://schemas.microsoft.com/office/drawing/2014/main" id="{52B8FC68-9061-41EF-8601-F9EC089CF7AD}"/>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Тесты под вакансию и GigaChat</a:t>
            </a:r>
          </a:p>
        </p:txBody>
      </p:sp>
      <p:sp>
        <p:nvSpPr>
          <p:cNvPr id="2" name="text-1-666">
            <a:extLst xmlns:a="http://schemas.openxmlformats.org/drawingml/2006/main">
              <a:ext uri="{FF2B5EF4-FFF2-40B4-BE49-F238E27FC236}">
                <a16:creationId xmlns:a16="http://schemas.microsoft.com/office/drawing/2014/main" id="{EB06F10D-4ABE-4C66-9D8B-DB3206C430D9}"/>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the_swarm</a:t>
            </a:r>
          </a:p>
        </p:txBody>
      </p:sp>
      <p:sp>
        <p:nvSpPr>
          <p:cNvPr id="3" name="text-2-666">
            <a:extLst xmlns:a="http://schemas.openxmlformats.org/drawingml/2006/main">
              <a:ext uri="{FF2B5EF4-FFF2-40B4-BE49-F238E27FC236}">
                <a16:creationId xmlns:a16="http://schemas.microsoft.com/office/drawing/2014/main" id="{C411DA3A-E8BE-4D6C-A28D-93E5CA281CE2}"/>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06</a:t>
            </a:r>
          </a:p>
        </p:txBody>
      </p:sp>
      <p:sp>
        <p:nvSpPr>
          <p:cNvPr id="4" name="text-3-208">
            <a:extLst xmlns:a="http://schemas.openxmlformats.org/drawingml/2006/main">
              <a:ext uri="{FF2B5EF4-FFF2-40B4-BE49-F238E27FC236}">
                <a16:creationId xmlns:a16="http://schemas.microsoft.com/office/drawing/2014/main" id="{143E6F46-6ABF-40BF-AD46-0E312EC64921}"/>
              </a:ext>
            </a:extLst>
          </p:cNvPr>
          <p:cNvSpPr>
            <a:spLocks xmlns:a="http://schemas.openxmlformats.org/drawingml/2006/main" noGrp="1"/>
          </p:cNvSpPr>
          <p:nvPr/>
        </p:nvSpPr>
        <p:spPr>
          <a:xfrm xmlns:a="http://schemas.openxmlformats.org/drawingml/2006/main">
            <a:off x="647700" y="1981200"/>
            <a:ext cx="4686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B74"/>
                </a:solidFill>
                <a:latin typeface="Arial"/>
                <a:ea typeface="Arial"/>
                <a:cs typeface="Arial"/>
              </a:defRPr>
            </a:pPr>
            <a:r>
              <a:rPr sz="2400" b="1">
                <a:solidFill>
                  <a:srgbClr val="087B74"/>
                </a:solidFill>
                <a:latin typeface="Arial"/>
                <a:ea typeface="Arial"/>
                <a:cs typeface="Arial"/>
              </a:rPr>
              <a:t>В MAX</a:t>
            </a:r>
          </a:p>
        </p:txBody>
      </p:sp>
      <p:sp>
        <p:nvSpPr>
          <p:cNvPr id="5" name="text-4-283">
            <a:extLst xmlns:a="http://schemas.openxmlformats.org/drawingml/2006/main">
              <a:ext uri="{FF2B5EF4-FFF2-40B4-BE49-F238E27FC236}">
                <a16:creationId xmlns:a16="http://schemas.microsoft.com/office/drawing/2014/main" id="{372D1EFB-7559-45B2-A4DE-4426356DA3FD}"/>
              </a:ext>
            </a:extLst>
          </p:cNvPr>
          <p:cNvSpPr>
            <a:spLocks xmlns:a="http://schemas.openxmlformats.org/drawingml/2006/main" noGrp="1"/>
          </p:cNvSpPr>
          <p:nvPr/>
        </p:nvSpPr>
        <p:spPr>
          <a:xfrm xmlns:a="http://schemas.openxmlformats.org/drawingml/2006/main">
            <a:off x="647700" y="2695575"/>
            <a:ext cx="46863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Работодатель хранит свои тесты в библиотеке.</a:t>
            </a:r>
          </a:p>
          <a:p xmlns:a="http://schemas.openxmlformats.org/drawingml/2006/main">
            <a:r>
              <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Вакансия получает неизменяемую копию. Критерии ответа видит только работодатель.</a:t>
            </a:r>
          </a:p>
        </p:txBody>
      </p:sp>
      <p:sp>
        <p:nvSpPr>
          <p:cNvPr id="6" name="text-5-208">
            <a:extLst xmlns:a="http://schemas.openxmlformats.org/drawingml/2006/main">
              <a:ext uri="{FF2B5EF4-FFF2-40B4-BE49-F238E27FC236}">
                <a16:creationId xmlns:a16="http://schemas.microsoft.com/office/drawing/2014/main" id="{F393607A-1C89-4219-83FE-F97475441D77}"/>
              </a:ext>
            </a:extLst>
          </p:cNvPr>
          <p:cNvSpPr>
            <a:spLocks xmlns:a="http://schemas.openxmlformats.org/drawingml/2006/main" noGrp="1"/>
          </p:cNvSpPr>
          <p:nvPr/>
        </p:nvSpPr>
        <p:spPr>
          <a:xfrm xmlns:a="http://schemas.openxmlformats.org/drawingml/2006/main">
            <a:off x="6267450" y="19812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87B74"/>
                </a:solidFill>
                <a:latin typeface="Arial"/>
                <a:ea typeface="Arial"/>
                <a:cs typeface="Arial"/>
              </a:defRPr>
            </a:pPr>
            <a:r>
              <a:rPr sz="2400" b="1">
                <a:solidFill>
                  <a:srgbClr val="087B74"/>
                </a:solidFill>
                <a:latin typeface="Arial"/>
                <a:ea typeface="Arial"/>
                <a:cs typeface="Arial"/>
              </a:rPr>
              <a:t>Черновик через HR API</a:t>
            </a:r>
          </a:p>
        </p:txBody>
      </p:sp>
      <p:sp>
        <p:nvSpPr>
          <p:cNvPr id="7" name="text-6-283">
            <a:extLst xmlns:a="http://schemas.openxmlformats.org/drawingml/2006/main">
              <a:ext uri="{FF2B5EF4-FFF2-40B4-BE49-F238E27FC236}">
                <a16:creationId xmlns:a16="http://schemas.microsoft.com/office/drawing/2014/main" id="{15DE12B1-FDF6-4938-92B7-DF4C92D94C68}"/>
              </a:ext>
            </a:extLst>
          </p:cNvPr>
          <p:cNvSpPr>
            <a:spLocks xmlns:a="http://schemas.openxmlformats.org/drawingml/2006/main" noGrp="1"/>
          </p:cNvSpPr>
          <p:nvPr/>
        </p:nvSpPr>
        <p:spPr>
          <a:xfrm xmlns:a="http://schemas.openxmlformats.org/drawingml/2006/main">
            <a:off x="6267450" y="2695575"/>
            <a:ext cx="523875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GigaChat предлагает до трёх вопросов по навыкам и уровню.</a:t>
            </a:r>
          </a:p>
          <a:p xmlns:a="http://schemas.openxmlformats.org/drawingml/2006/main">
            <a:r>
              <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Человек проверяет и сохраняет результат. Модель не получает резюме.</a:t>
            </a:r>
          </a:p>
        </p:txBody>
      </p:sp>
      <p:sp>
        <p:nvSpPr>
          <p:cNvPr id="8" name="text-7-581">
            <a:extLst xmlns:a="http://schemas.openxmlformats.org/drawingml/2006/main">
              <a:ext uri="{FF2B5EF4-FFF2-40B4-BE49-F238E27FC236}">
                <a16:creationId xmlns:a16="http://schemas.microsoft.com/office/drawing/2014/main" id="{9D0B7306-00A6-477D-96C2-2110187391CF}"/>
              </a:ext>
            </a:extLst>
          </p:cNvPr>
          <p:cNvSpPr>
            <a:spLocks xmlns:a="http://schemas.openxmlformats.org/drawingml/2006/main" noGrp="1"/>
          </p:cNvSpPr>
          <p:nvPr/>
        </p:nvSpPr>
        <p:spPr>
          <a:xfrm xmlns:a="http://schemas.openxmlformats.org/drawingml/2006/main">
            <a:off x="647700" y="5534025"/>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B74"/>
                </a:solidFill>
                <a:latin typeface="Arial"/>
                <a:ea typeface="Arial"/>
                <a:cs typeface="Arial"/>
              </a:defRPr>
            </a:pPr>
            <a:r>
              <a:rPr sz="2100" b="1">
                <a:solidFill>
                  <a:srgbClr val="087B74"/>
                </a:solidFill>
                <a:latin typeface="Arial"/>
                <a:ea typeface="Arial"/>
                <a:cs typeface="Arial"/>
              </a:rPr>
              <a:t>Если модель недоступна, работает локальный шаблон вопросов.</a:t>
            </a:r>
          </a:p>
        </p:txBody>
      </p:sp>
    </p:spTree>
    <p:extLst>
      <p:ext uri="{BB962C8B-B14F-4D97-AF65-F5344CB8AC3E}">
        <p14:creationId xmlns:p14="http://schemas.microsoft.com/office/powerpoint/2010/main" val="2115423057"/>
      </p:ext>
    </p:extLst>
  </p:cSld>
</p:sld>
</file>

<file path=ppt/slides/slide7.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6" name="text-0-55">
            <a:extLst xmlns:a="http://schemas.openxmlformats.org/drawingml/2006/main">
              <a:ext uri="{FF2B5EF4-FFF2-40B4-BE49-F238E27FC236}">
                <a16:creationId xmlns:a16="http://schemas.microsoft.com/office/drawing/2014/main" id="{2768B8BD-2E3E-499E-8682-D8800B628FA5}"/>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HR API встраивается в процесс компании</a:t>
            </a:r>
          </a:p>
        </p:txBody>
      </p:sp>
      <p:sp>
        <p:nvSpPr>
          <p:cNvPr id="2" name="text-1-666">
            <a:extLst xmlns:a="http://schemas.openxmlformats.org/drawingml/2006/main">
              <a:ext uri="{FF2B5EF4-FFF2-40B4-BE49-F238E27FC236}">
                <a16:creationId xmlns:a16="http://schemas.microsoft.com/office/drawing/2014/main" id="{5E511520-E6FA-449B-8CC0-AB32522A8E0E}"/>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the_swarm</a:t>
            </a:r>
          </a:p>
        </p:txBody>
      </p:sp>
      <p:sp>
        <p:nvSpPr>
          <p:cNvPr id="3" name="text-2-666">
            <a:extLst xmlns:a="http://schemas.openxmlformats.org/drawingml/2006/main">
              <a:ext uri="{FF2B5EF4-FFF2-40B4-BE49-F238E27FC236}">
                <a16:creationId xmlns:a16="http://schemas.microsoft.com/office/drawing/2014/main" id="{E2BFED4C-B75E-4A0F-A196-2C298521B9C3}"/>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07</a:t>
            </a:r>
          </a:p>
        </p:txBody>
      </p:sp>
      <p:graphicFrame>
        <p:nvGraphicFramePr>
          <p:cNvPr id="9" name=""/>
          <p:cNvGraphicFramePr/>
          <p:nvPr/>
        </p:nvGraphicFramePr>
        <p:xfrm>
          <a:off xmlns:a="http://schemas.openxmlformats.org/drawingml/2006/main" x="647700" y="1724025"/>
          <a:ext xmlns:a="http://schemas.openxmlformats.org/drawingml/2006/main" cx="10896600" cy="3429000"/>
        </p:xfrm>
        <a:graphic xmlns:a="http://schemas.openxmlformats.org/drawingml/2006/main">
          <a:graphicData uri="http://schemas.openxmlformats.org/drawingml/2006/table">
            <a:tbl>
              <a:tblPr/>
              <a:tblGrid>
                <a:gridCol w="3619500"/>
                <a:gridCol w="7277100"/>
              </a:tblGrid>
              <a:tr h="685800">
                <a:tc>
                  <a:txBody>
                    <a:bodyPr/>
                    <a:lstStyle/>
                    <a:p>
                      <a:r>
                        <a:rPr sz="1950" b="1">
                          <a:solidFill>
                            <a:srgbClr val="FFFFFF"/>
                          </a:solidFill>
                          <a:latin typeface="Arial"/>
                          <a:ea typeface="Arial"/>
                          <a:cs typeface="Arial"/>
                        </a:rPr>
                        <a:t>Задача компании</a:t>
                      </a:r>
                    </a:p>
                  </a:txBody>
                  <a:tcPr marL="142875" marR="142875" marT="114300" marB="114300" anchor="ctr">
                    <a:solidFill>
                      <a:srgbClr val="102C37"/>
                    </a:solidFill>
                  </a:tcPr>
                </a:tc>
                <a:tc>
                  <a:txBody>
                    <a:bodyPr/>
                    <a:lstStyle/>
                    <a:p>
                      <a:r>
                        <a:rPr sz="1950" b="1">
                          <a:solidFill>
                            <a:srgbClr val="FFFFFF"/>
                          </a:solidFill>
                          <a:latin typeface="Arial"/>
                          <a:ea typeface="Arial"/>
                          <a:cs typeface="Arial"/>
                        </a:rPr>
                        <a:t>Что даёт интеграция</a:t>
                      </a:r>
                    </a:p>
                  </a:txBody>
                  <a:tcPr marL="142875" marR="142875" marT="114300" marB="114300" anchor="ctr">
                    <a:solidFill>
                      <a:srgbClr val="102C37"/>
                    </a:solidFill>
                  </a:tcPr>
                </a:tc>
              </a:tr>
              <a:tr h="685800">
                <a:tc>
                  <a:txBody>
                    <a:bodyPr/>
                    <a:lstStyle/>
                    <a:p>
                      <a:r>
                        <a:rPr sz="1950" b="0">
                          <a:solidFill>
                            <a:srgbClr val="152B36"/>
                          </a:solidFill>
                          <a:latin typeface="Arial"/>
                          <a:ea typeface="Arial"/>
                          <a:cs typeface="Arial"/>
                        </a:rPr>
                        <a:t>Публиковать вакансии</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Создание и обновление по внешнему ID без дублей</a:t>
                      </a:r>
                    </a:p>
                  </a:txBody>
                  <a:tcPr marL="142875" marR="142875" marT="114300" marB="114300" anchor="ctr">
                    <a:solidFill>
                      <a:srgbClr val="F4F5F1"/>
                    </a:solidFill>
                  </a:tcPr>
                </a:tc>
              </a:tr>
              <a:tr h="685800">
                <a:tc>
                  <a:txBody>
                    <a:bodyPr/>
                    <a:lstStyle/>
                    <a:p>
                      <a:r>
                        <a:rPr sz="1950" b="0">
                          <a:solidFill>
                            <a:srgbClr val="152B36"/>
                          </a:solidFill>
                          <a:latin typeface="Arial"/>
                          <a:ea typeface="Arial"/>
                          <a:cs typeface="Arial"/>
                        </a:rPr>
                        <a:t>Разбирать отклики</a:t>
                      </a:r>
                    </a:p>
                  </a:txBody>
                  <a:tcPr marL="142875" marR="142875" marT="114300" marB="114300" anchor="ctr">
                    <a:solidFill>
                      <a:srgbClr val="E9EEEA"/>
                    </a:solidFill>
                  </a:tcPr>
                </a:tc>
                <a:tc>
                  <a:txBody>
                    <a:bodyPr/>
                    <a:lstStyle/>
                    <a:p>
                      <a:r>
                        <a:rPr sz="1950" b="0">
                          <a:solidFill>
                            <a:srgbClr val="152B36"/>
                          </a:solidFill>
                          <a:latin typeface="Arial"/>
                          <a:ea typeface="Arial"/>
                          <a:cs typeface="Arial"/>
                        </a:rPr>
                        <a:t>Карточка, исходный PDF, ответы и объяснение покрытия</a:t>
                      </a:r>
                    </a:p>
                  </a:txBody>
                  <a:tcPr marL="142875" marR="142875" marT="114300" marB="114300" anchor="ctr">
                    <a:solidFill>
                      <a:srgbClr val="E9EEEA"/>
                    </a:solidFill>
                  </a:tcPr>
                </a:tc>
              </a:tr>
              <a:tr h="685800">
                <a:tc>
                  <a:txBody>
                    <a:bodyPr/>
                    <a:lstStyle/>
                    <a:p>
                      <a:r>
                        <a:rPr sz="1950" b="0">
                          <a:solidFill>
                            <a:srgbClr val="152B36"/>
                          </a:solidFill>
                          <a:latin typeface="Arial"/>
                          <a:ea typeface="Arial"/>
                          <a:cs typeface="Arial"/>
                        </a:rPr>
                        <a:t>Продолжать работу в ATS</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Этапы, заметки, метки и защита от перезаписи</a:t>
                      </a:r>
                    </a:p>
                  </a:txBody>
                  <a:tcPr marL="142875" marR="142875" marT="114300" marB="114300" anchor="ctr">
                    <a:solidFill>
                      <a:srgbClr val="F4F5F1"/>
                    </a:solidFill>
                  </a:tcPr>
                </a:tc>
              </a:tr>
              <a:tr h="685800">
                <a:tc>
                  <a:txBody>
                    <a:bodyPr/>
                    <a:lstStyle/>
                    <a:p>
                      <a:r>
                        <a:rPr sz="1950" b="0">
                          <a:solidFill>
                            <a:srgbClr val="152B36"/>
                          </a:solidFill>
                          <a:latin typeface="Arial"/>
                          <a:ea typeface="Arial"/>
                          <a:cs typeface="Arial"/>
                        </a:rPr>
                        <a:t>Синхронизировать изменения</a:t>
                      </a:r>
                    </a:p>
                  </a:txBody>
                  <a:tcPr marL="142875" marR="142875" marT="114300" marB="114300" anchor="ctr">
                    <a:solidFill>
                      <a:srgbClr val="E9EEEA"/>
                    </a:solidFill>
                  </a:tcPr>
                </a:tc>
                <a:tc>
                  <a:txBody>
                    <a:bodyPr/>
                    <a:lstStyle/>
                    <a:p>
                      <a:r>
                        <a:rPr sz="1950" b="0">
                          <a:solidFill>
                            <a:srgbClr val="152B36"/>
                          </a:solidFill>
                          <a:latin typeface="Arial"/>
                          <a:ea typeface="Arial"/>
                          <a:cs typeface="Arial"/>
                        </a:rPr>
                        <a:t>Лента событий и отзыв доступа к данным</a:t>
                      </a:r>
                    </a:p>
                  </a:txBody>
                  <a:tcPr marL="142875" marR="142875" marT="114300" marB="114300" anchor="ctr">
                    <a:solidFill>
                      <a:srgbClr val="E9EEEA"/>
                    </a:solidFill>
                  </a:tcPr>
                </a:tc>
              </a:tr>
            </a:tbl>
          </a:graphicData>
        </a:graphic>
      </p:graphicFrame>
      <p:sp>
        <p:nvSpPr>
          <p:cNvPr id="5" name="text-3-578">
            <a:extLst xmlns:a="http://schemas.openxmlformats.org/drawingml/2006/main">
              <a:ext uri="{FF2B5EF4-FFF2-40B4-BE49-F238E27FC236}">
                <a16:creationId xmlns:a16="http://schemas.microsoft.com/office/drawing/2014/main" id="{01042A2D-E709-4D6F-AD4D-700006BF6C88}"/>
              </a:ext>
            </a:extLst>
          </p:cNvPr>
          <p:cNvSpPr>
            <a:spLocks xmlns:a="http://schemas.openxmlformats.org/drawingml/2006/main" noGrp="1"/>
          </p:cNvSpPr>
          <p:nvPr/>
        </p:nvSpPr>
        <p:spPr>
          <a:xfrm xmlns:a="http://schemas.openxmlformats.org/drawingml/2006/main">
            <a:off x="647700" y="5505450"/>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087B74"/>
                </a:solidFill>
                <a:latin typeface="Arial"/>
                <a:ea typeface="Arial"/>
                <a:cs typeface="Arial"/>
              </a:defRPr>
            </a:pPr>
            <a:r>
              <a:rPr sz="2025" b="1">
                <a:solidFill>
                  <a:srgbClr val="087B74"/>
                </a:solidFill>
                <a:latin typeface="Arial"/>
                <a:ea typeface="Arial"/>
                <a:cs typeface="Arial"/>
              </a:rPr>
              <a:t>API работает. Коннектор к конкретной коммерческой ATS пока модельный.</a:t>
            </a:r>
          </a:p>
        </p:txBody>
      </p:sp>
    </p:spTree>
    <p:extLst>
      <p:ext uri="{BB962C8B-B14F-4D97-AF65-F5344CB8AC3E}">
        <p14:creationId xmlns:p14="http://schemas.microsoft.com/office/powerpoint/2010/main" val="455515409"/>
      </p:ext>
    </p:extLst>
  </p:cSld>
</p:sld>
</file>

<file path=ppt/slides/slide8.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6" name="text-0-55">
            <a:extLst xmlns:a="http://schemas.openxmlformats.org/drawingml/2006/main">
              <a:ext uri="{FF2B5EF4-FFF2-40B4-BE49-F238E27FC236}">
                <a16:creationId xmlns:a16="http://schemas.microsoft.com/office/drawing/2014/main" id="{DF4FA564-1090-46A2-8E6A-1474580E579D}"/>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Архитектура MVP</a:t>
            </a:r>
          </a:p>
        </p:txBody>
      </p:sp>
      <p:sp>
        <p:nvSpPr>
          <p:cNvPr id="2" name="text-1-666">
            <a:extLst xmlns:a="http://schemas.openxmlformats.org/drawingml/2006/main">
              <a:ext uri="{FF2B5EF4-FFF2-40B4-BE49-F238E27FC236}">
                <a16:creationId xmlns:a16="http://schemas.microsoft.com/office/drawing/2014/main" id="{D7D824EF-3E2E-410B-8506-CC85BE64353F}"/>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the_swarm</a:t>
            </a:r>
          </a:p>
        </p:txBody>
      </p:sp>
      <p:sp>
        <p:nvSpPr>
          <p:cNvPr id="3" name="text-2-666">
            <a:extLst xmlns:a="http://schemas.openxmlformats.org/drawingml/2006/main">
              <a:ext uri="{FF2B5EF4-FFF2-40B4-BE49-F238E27FC236}">
                <a16:creationId xmlns:a16="http://schemas.microsoft.com/office/drawing/2014/main" id="{18A2A02C-792B-442F-9142-365DF23F300B}"/>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08</a:t>
            </a:r>
          </a:p>
        </p:txBody>
      </p:sp>
      <p:graphicFrame>
        <p:nvGraphicFramePr>
          <p:cNvPr id="9" name=""/>
          <p:cNvGraphicFramePr/>
          <p:nvPr/>
        </p:nvGraphicFramePr>
        <p:xfrm>
          <a:off xmlns:a="http://schemas.openxmlformats.org/drawingml/2006/main" x="647700" y="1771650"/>
          <a:ext xmlns:a="http://schemas.openxmlformats.org/drawingml/2006/main" cx="10896600" cy="3238500"/>
        </p:xfrm>
        <a:graphic xmlns:a="http://schemas.openxmlformats.org/drawingml/2006/main">
          <a:graphicData uri="http://schemas.openxmlformats.org/drawingml/2006/table">
            <a:tbl>
              <a:tblPr/>
              <a:tblGrid>
                <a:gridCol w="3857625"/>
                <a:gridCol w="7038975"/>
              </a:tblGrid>
              <a:tr h="647700">
                <a:tc>
                  <a:txBody>
                    <a:bodyPr/>
                    <a:lstStyle/>
                    <a:p>
                      <a:r>
                        <a:rPr sz="1950" b="1">
                          <a:solidFill>
                            <a:srgbClr val="FFFFFF"/>
                          </a:solidFill>
                          <a:latin typeface="Arial"/>
                          <a:ea typeface="Arial"/>
                          <a:cs typeface="Arial"/>
                        </a:rPr>
                        <a:t>Слой</a:t>
                      </a:r>
                    </a:p>
                  </a:txBody>
                  <a:tcPr marL="142875" marR="142875" marT="114300" marB="114300" anchor="ctr">
                    <a:solidFill>
                      <a:srgbClr val="102C37"/>
                    </a:solidFill>
                  </a:tcPr>
                </a:tc>
                <a:tc>
                  <a:txBody>
                    <a:bodyPr/>
                    <a:lstStyle/>
                    <a:p>
                      <a:r>
                        <a:rPr sz="1950" b="1">
                          <a:solidFill>
                            <a:srgbClr val="FFFFFF"/>
                          </a:solidFill>
                          <a:latin typeface="Arial"/>
                          <a:ea typeface="Arial"/>
                          <a:cs typeface="Arial"/>
                        </a:rPr>
                        <a:t>Роль в системе</a:t>
                      </a:r>
                    </a:p>
                  </a:txBody>
                  <a:tcPr marL="142875" marR="142875" marT="114300" marB="114300" anchor="ctr">
                    <a:solidFill>
                      <a:srgbClr val="102C37"/>
                    </a:solidFill>
                  </a:tcPr>
                </a:tc>
              </a:tr>
              <a:tr h="647700">
                <a:tc>
                  <a:txBody>
                    <a:bodyPr/>
                    <a:lstStyle/>
                    <a:p>
                      <a:r>
                        <a:rPr sz="1950" b="0">
                          <a:solidFill>
                            <a:srgbClr val="152B36"/>
                          </a:solidFill>
                          <a:latin typeface="Arial"/>
                          <a:ea typeface="Arial"/>
                          <a:cs typeface="Arial"/>
                        </a:rPr>
                        <a:t>MAX</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Чат обеих ролей, кнопки, ссылки на вакансии</a:t>
                      </a:r>
                    </a:p>
                  </a:txBody>
                  <a:tcPr marL="142875" marR="142875" marT="114300" marB="114300" anchor="ctr">
                    <a:solidFill>
                      <a:srgbClr val="F4F5F1"/>
                    </a:solidFill>
                  </a:tcPr>
                </a:tc>
              </a:tr>
              <a:tr h="647700">
                <a:tc>
                  <a:txBody>
                    <a:bodyPr/>
                    <a:lstStyle/>
                    <a:p>
                      <a:r>
                        <a:rPr sz="1950" b="0">
                          <a:solidFill>
                            <a:srgbClr val="152B36"/>
                          </a:solidFill>
                          <a:latin typeface="Arial"/>
                          <a:ea typeface="Arial"/>
                          <a:cs typeface="Arial"/>
                        </a:rPr>
                        <a:t>FastAPI</a:t>
                      </a:r>
                    </a:p>
                  </a:txBody>
                  <a:tcPr marL="142875" marR="142875" marT="114300" marB="114300" anchor="ctr">
                    <a:solidFill>
                      <a:srgbClr val="E9EEEA"/>
                    </a:solidFill>
                  </a:tcPr>
                </a:tc>
                <a:tc>
                  <a:txBody>
                    <a:bodyPr/>
                    <a:lstStyle/>
                    <a:p>
                      <a:r>
                        <a:rPr sz="1950" b="0">
                          <a:solidFill>
                            <a:srgbClr val="152B36"/>
                          </a:solidFill>
                          <a:latin typeface="Arial"/>
                          <a:ea typeface="Arial"/>
                          <a:cs typeface="Arial"/>
                        </a:rPr>
                        <a:t>Сценарий найма, авторизация, HR API и ограничения</a:t>
                      </a:r>
                    </a:p>
                  </a:txBody>
                  <a:tcPr marL="142875" marR="142875" marT="114300" marB="114300" anchor="ctr">
                    <a:solidFill>
                      <a:srgbClr val="E9EEEA"/>
                    </a:solidFill>
                  </a:tcPr>
                </a:tc>
              </a:tr>
              <a:tr h="647700">
                <a:tc>
                  <a:txBody>
                    <a:bodyPr/>
                    <a:lstStyle/>
                    <a:p>
                      <a:r>
                        <a:rPr sz="1950" b="0">
                          <a:solidFill>
                            <a:srgbClr val="152B36"/>
                          </a:solidFill>
                          <a:latin typeface="Arial"/>
                          <a:ea typeface="Arial"/>
                          <a:cs typeface="Arial"/>
                        </a:rPr>
                        <a:t>SQLite и фоновые обработчики</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Состояния, очередь сообщений, импорты и кэш</a:t>
                      </a:r>
                    </a:p>
                  </a:txBody>
                  <a:tcPr marL="142875" marR="142875" marT="114300" marB="114300" anchor="ctr">
                    <a:solidFill>
                      <a:srgbClr val="F4F5F1"/>
                    </a:solidFill>
                  </a:tcPr>
                </a:tc>
              </a:tr>
              <a:tr h="647700">
                <a:tc>
                  <a:txBody>
                    <a:bodyPr/>
                    <a:lstStyle/>
                    <a:p>
                      <a:r>
                        <a:rPr sz="1950" b="0">
                          <a:solidFill>
                            <a:srgbClr val="152B36"/>
                          </a:solidFill>
                          <a:latin typeface="Arial"/>
                          <a:ea typeface="Arial"/>
                          <a:cs typeface="Arial"/>
                        </a:rPr>
                        <a:t>Внешние сервисы</a:t>
                      </a:r>
                    </a:p>
                  </a:txBody>
                  <a:tcPr marL="142875" marR="142875" marT="114300" marB="114300" anchor="ctr">
                    <a:solidFill>
                      <a:srgbClr val="E9EEEA"/>
                    </a:solidFill>
                  </a:tcPr>
                </a:tc>
                <a:tc>
                  <a:txBody>
                    <a:bodyPr/>
                    <a:lstStyle/>
                    <a:p>
                      <a:r>
                        <a:rPr sz="1950" b="0">
                          <a:solidFill>
                            <a:srgbClr val="152B36"/>
                          </a:solidFill>
                          <a:latin typeface="Arial"/>
                          <a:ea typeface="Arial"/>
                          <a:cs typeface="Arial"/>
                        </a:rPr>
                        <a:t>MAX, Яндекс Диск, GitHub, опционально Cloud.ru</a:t>
                      </a:r>
                    </a:p>
                  </a:txBody>
                  <a:tcPr marL="142875" marR="142875" marT="114300" marB="114300" anchor="ctr">
                    <a:solidFill>
                      <a:srgbClr val="E9EEEA"/>
                    </a:solidFill>
                  </a:tcPr>
                </a:tc>
              </a:tr>
            </a:tbl>
          </a:graphicData>
        </a:graphic>
      </p:graphicFrame>
      <p:sp>
        <p:nvSpPr>
          <p:cNvPr id="5" name="text-3-561">
            <a:extLst xmlns:a="http://schemas.openxmlformats.org/drawingml/2006/main">
              <a:ext uri="{FF2B5EF4-FFF2-40B4-BE49-F238E27FC236}">
                <a16:creationId xmlns:a16="http://schemas.microsoft.com/office/drawing/2014/main" id="{3F81A40D-5852-411A-8FBC-6B3565B8F43C}"/>
              </a:ext>
            </a:extLst>
          </p:cNvPr>
          <p:cNvSpPr>
            <a:spLocks xmlns:a="http://schemas.openxmlformats.org/drawingml/2006/main" noGrp="1"/>
          </p:cNvSpPr>
          <p:nvPr/>
        </p:nvSpPr>
        <p:spPr>
          <a:xfrm xmlns:a="http://schemas.openxmlformats.org/drawingml/2006/main">
            <a:off x="647700" y="5343525"/>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B74"/>
                </a:solidFill>
                <a:latin typeface="Arial"/>
                <a:ea typeface="Arial"/>
                <a:cs typeface="Arial"/>
              </a:defRPr>
            </a:pPr>
            <a:r>
              <a:rPr sz="2100" b="1">
                <a:solidFill>
                  <a:srgbClr val="087B74"/>
                </a:solidFill>
                <a:latin typeface="Arial"/>
                <a:ea typeface="Arial"/>
                <a:cs typeface="Arial"/>
              </a:rPr>
              <a:t>Один экземпляр Docker. В облаке: HTTPS и webhook.</a:t>
            </a:r>
          </a:p>
          <a:p xmlns:a="http://schemas.openxmlformats.org/drawingml/2006/main">
            <a:pPr>
              <a:defRPr sz="2100" b="1">
                <a:solidFill>
                  <a:srgbClr val="087B74"/>
                </a:solidFill>
                <a:latin typeface="Arial"/>
                <a:ea typeface="Arial"/>
                <a:cs typeface="Arial"/>
              </a:defRPr>
            </a:pPr>
            <a:r>
              <a:rPr sz="2100" b="1">
                <a:solidFill>
                  <a:srgbClr val="087B74"/>
                </a:solidFill>
                <a:latin typeface="Arial"/>
                <a:ea typeface="Arial"/>
                <a:cs typeface="Arial"/>
              </a:rPr>
              <a:t>Базовый отбор работает локальными правилами, без LLM.</a:t>
            </a:r>
          </a:p>
        </p:txBody>
      </p:sp>
    </p:spTree>
    <p:extLst>
      <p:ext uri="{BB962C8B-B14F-4D97-AF65-F5344CB8AC3E}">
        <p14:creationId xmlns:p14="http://schemas.microsoft.com/office/powerpoint/2010/main" val="1710178304"/>
      </p:ext>
    </p:extLst>
  </p:cSld>
</p:sld>
</file>

<file path=ppt/slides/slide9.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8" name="text-0-55">
            <a:extLst xmlns:a="http://schemas.openxmlformats.org/drawingml/2006/main">
              <a:ext uri="{FF2B5EF4-FFF2-40B4-BE49-F238E27FC236}">
                <a16:creationId xmlns:a16="http://schemas.microsoft.com/office/drawing/2014/main" id="{55B93F64-A636-4E87-99E5-7CBAD1FC3758}"/>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Что уже проверено</a:t>
            </a:r>
          </a:p>
        </p:txBody>
      </p:sp>
      <p:sp>
        <p:nvSpPr>
          <p:cNvPr id="2" name="text-1-666">
            <a:extLst xmlns:a="http://schemas.openxmlformats.org/drawingml/2006/main">
              <a:ext uri="{FF2B5EF4-FFF2-40B4-BE49-F238E27FC236}">
                <a16:creationId xmlns:a16="http://schemas.microsoft.com/office/drawing/2014/main" id="{E78D097C-D01C-4A99-AB44-C646929FD404}"/>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the_swarm</a:t>
            </a:r>
          </a:p>
        </p:txBody>
      </p:sp>
      <p:sp>
        <p:nvSpPr>
          <p:cNvPr id="3" name="text-2-666">
            <a:extLst xmlns:a="http://schemas.openxmlformats.org/drawingml/2006/main">
              <a:ext uri="{FF2B5EF4-FFF2-40B4-BE49-F238E27FC236}">
                <a16:creationId xmlns:a16="http://schemas.microsoft.com/office/drawing/2014/main" id="{7B278702-CE74-44A1-AAED-91590887487C}"/>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09</a:t>
            </a:r>
          </a:p>
        </p:txBody>
      </p:sp>
      <p:sp>
        <p:nvSpPr>
          <p:cNvPr id="4" name="text-3-174">
            <a:extLst xmlns:a="http://schemas.openxmlformats.org/drawingml/2006/main">
              <a:ext uri="{FF2B5EF4-FFF2-40B4-BE49-F238E27FC236}">
                <a16:creationId xmlns:a16="http://schemas.microsoft.com/office/drawing/2014/main" id="{15FE78C7-CF1C-40C3-9D6B-0F95B9573245}"/>
              </a:ext>
            </a:extLst>
          </p:cNvPr>
          <p:cNvSpPr>
            <a:spLocks xmlns:a="http://schemas.openxmlformats.org/drawingml/2006/main" noGrp="1"/>
          </p:cNvSpPr>
          <p:nvPr/>
        </p:nvSpPr>
        <p:spPr>
          <a:xfrm xmlns:a="http://schemas.openxmlformats.org/drawingml/2006/main">
            <a:off x="647700" y="1657350"/>
            <a:ext cx="390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700" b="1">
                <a:solidFill>
                  <a:srgbClr val="087B74"/>
                </a:solidFill>
                <a:latin typeface="Arial"/>
                <a:ea typeface="Arial"/>
                <a:cs typeface="Arial"/>
              </a:defRPr>
            </a:pPr>
            <a:r>
              <a:rPr sz="8700" b="1">
                <a:solidFill>
                  <a:srgbClr val="087B74"/>
                </a:solidFill>
                <a:latin typeface="Arial"/>
                <a:ea typeface="Arial"/>
                <a:cs typeface="Arial"/>
              </a:rPr>
              <a:t>298</a:t>
            </a:r>
          </a:p>
        </p:txBody>
      </p:sp>
      <p:sp>
        <p:nvSpPr>
          <p:cNvPr id="5" name="text-4-342">
            <a:extLst xmlns:a="http://schemas.openxmlformats.org/drawingml/2006/main">
              <a:ext uri="{FF2B5EF4-FFF2-40B4-BE49-F238E27FC236}">
                <a16:creationId xmlns:a16="http://schemas.microsoft.com/office/drawing/2014/main" id="{D2FFAC5B-788A-4DF0-B0A4-9D398F6F0D28}"/>
              </a:ext>
            </a:extLst>
          </p:cNvPr>
          <p:cNvSpPr>
            <a:spLocks xmlns:a="http://schemas.openxmlformats.org/drawingml/2006/main" noGrp="1"/>
          </p:cNvSpPr>
          <p:nvPr/>
        </p:nvSpPr>
        <p:spPr>
          <a:xfrm xmlns:a="http://schemas.openxmlformats.org/drawingml/2006/main">
            <a:off x="647700" y="3257550"/>
            <a:ext cx="4762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52B36"/>
                </a:solidFill>
                <a:latin typeface="Arial"/>
                <a:ea typeface="Arial"/>
                <a:cs typeface="Arial"/>
              </a:defRPr>
            </a:pPr>
            <a:r>
              <a:rPr sz="2400" b="1">
                <a:solidFill>
                  <a:srgbClr val="152B36"/>
                </a:solidFill>
                <a:latin typeface="Arial"/>
                <a:ea typeface="Arial"/>
                <a:cs typeface="Arial"/>
              </a:rPr>
              <a:t>автоматических тестов</a:t>
            </a:r>
          </a:p>
        </p:txBody>
      </p:sp>
      <p:sp>
        <p:nvSpPr>
          <p:cNvPr id="6" name="text-5-189">
            <a:extLst xmlns:a="http://schemas.openxmlformats.org/drawingml/2006/main">
              <a:ext uri="{FF2B5EF4-FFF2-40B4-BE49-F238E27FC236}">
                <a16:creationId xmlns:a16="http://schemas.microsoft.com/office/drawing/2014/main" id="{D7796A1D-9572-42A3-B4A1-A68B0874DBDC}"/>
              </a:ext>
            </a:extLst>
          </p:cNvPr>
          <p:cNvSpPr>
            <a:spLocks xmlns:a="http://schemas.openxmlformats.org/drawingml/2006/main" noGrp="1"/>
          </p:cNvSpPr>
          <p:nvPr/>
        </p:nvSpPr>
        <p:spPr>
          <a:xfrm xmlns:a="http://schemas.openxmlformats.org/drawingml/2006/main">
            <a:off x="6334125" y="1800225"/>
            <a:ext cx="5238750" cy="287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Сквозной HTTP-сценарий, перезапуск</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и восстановление базы из копии.</a:t>
            </a:r>
          </a:p>
          <a:p xmlns:a="http://schemas.openxmlformats.org/drawingml/2006/main">
            <a:r>
              <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Изоляция работодателей, отзыв данных,</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повторные действия и ошибки источников.</a:t>
            </a:r>
          </a:p>
        </p:txBody>
      </p:sp>
      <p:sp>
        <p:nvSpPr>
          <p:cNvPr id="7" name="text-6-517">
            <a:extLst xmlns:a="http://schemas.openxmlformats.org/drawingml/2006/main">
              <a:ext uri="{FF2B5EF4-FFF2-40B4-BE49-F238E27FC236}">
                <a16:creationId xmlns:a16="http://schemas.microsoft.com/office/drawing/2014/main" id="{391D1DC6-4A7C-48E9-87E4-2B19E609C7F3}"/>
              </a:ext>
            </a:extLst>
          </p:cNvPr>
          <p:cNvSpPr>
            <a:spLocks xmlns:a="http://schemas.openxmlformats.org/drawingml/2006/main" noGrp="1"/>
          </p:cNvSpPr>
          <p:nvPr/>
        </p:nvSpPr>
        <p:spPr>
          <a:xfrm xmlns:a="http://schemas.openxmlformats.org/drawingml/2006/main">
            <a:off x="647700" y="4924425"/>
            <a:ext cx="10896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51616A"/>
                </a:solidFill>
                <a:latin typeface="Arial"/>
                <a:ea typeface="Arial"/>
                <a:cs typeface="Arial"/>
              </a:defRPr>
            </a:pPr>
            <a:r>
              <a:rPr sz="2175" b="0">
                <a:solidFill>
                  <a:srgbClr val="51616A"/>
                </a:solidFill>
                <a:latin typeface="Arial"/>
                <a:ea typeface="Arial"/>
                <a:cs typeface="Arial"/>
              </a:rPr>
              <a:t>Docker проверен в CI. Два независимых аккаунта MAX</a:t>
            </a:r>
          </a:p>
          <a:p xmlns:a="http://schemas.openxmlformats.org/drawingml/2006/main">
            <a:pPr>
              <a:defRPr sz="2175" b="0">
                <a:solidFill>
                  <a:srgbClr val="51616A"/>
                </a:solidFill>
                <a:latin typeface="Arial"/>
                <a:ea typeface="Arial"/>
                <a:cs typeface="Arial"/>
              </a:defRPr>
            </a:pPr>
            <a:r>
              <a:rPr sz="2175" b="0">
                <a:solidFill>
                  <a:srgbClr val="51616A"/>
                </a:solidFill>
                <a:latin typeface="Arial"/>
                <a:ea typeface="Arial"/>
                <a:cs typeface="Arial"/>
              </a:rPr>
              <a:t>и мобильная приёмка ещё требуют проверки.</a:t>
            </a:r>
          </a:p>
        </p:txBody>
      </p:sp>
    </p:spTree>
    <p:extLst>
      <p:ext uri="{BB962C8B-B14F-4D97-AF65-F5344CB8AC3E}">
        <p14:creationId xmlns:p14="http://schemas.microsoft.com/office/powerpoint/2010/main" val="1235769966"/>
      </p:ext>
    </p:extLst>
  </p:cSld>
</p:sld>
</file>

<file path=ppt/slides/slide10.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8" name="text-0-55">
            <a:extLst xmlns:a="http://schemas.openxmlformats.org/drawingml/2006/main">
              <a:ext uri="{FF2B5EF4-FFF2-40B4-BE49-F238E27FC236}">
                <a16:creationId xmlns:a16="http://schemas.microsoft.com/office/drawing/2014/main" id="{F6D5377B-B75A-480E-9E5B-7432F1EE6E01}"/>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Пилот измерит пользу для рекрутера</a:t>
            </a:r>
          </a:p>
        </p:txBody>
      </p:sp>
      <p:sp>
        <p:nvSpPr>
          <p:cNvPr id="2" name="text-1-666">
            <a:extLst xmlns:a="http://schemas.openxmlformats.org/drawingml/2006/main">
              <a:ext uri="{FF2B5EF4-FFF2-40B4-BE49-F238E27FC236}">
                <a16:creationId xmlns:a16="http://schemas.microsoft.com/office/drawing/2014/main" id="{309B18E7-F2D3-4140-BD57-E08795C6C0A8}"/>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the_swarm</a:t>
            </a:r>
          </a:p>
        </p:txBody>
      </p:sp>
      <p:sp>
        <p:nvSpPr>
          <p:cNvPr id="3" name="text-2-666">
            <a:extLst xmlns:a="http://schemas.openxmlformats.org/drawingml/2006/main">
              <a:ext uri="{FF2B5EF4-FFF2-40B4-BE49-F238E27FC236}">
                <a16:creationId xmlns:a16="http://schemas.microsoft.com/office/drawing/2014/main" id="{A0761ABC-C913-4589-8F0A-E04F07DE1E90}"/>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10</a:t>
            </a:r>
          </a:p>
        </p:txBody>
      </p:sp>
      <p:sp>
        <p:nvSpPr>
          <p:cNvPr id="4" name="text-3-170">
            <a:extLst xmlns:a="http://schemas.openxmlformats.org/drawingml/2006/main">
              <a:ext uri="{FF2B5EF4-FFF2-40B4-BE49-F238E27FC236}">
                <a16:creationId xmlns:a16="http://schemas.microsoft.com/office/drawing/2014/main" id="{007CBAE9-2877-486C-95DF-688BDED82BB1}"/>
              </a:ext>
            </a:extLst>
          </p:cNvPr>
          <p:cNvSpPr>
            <a:spLocks xmlns:a="http://schemas.openxmlformats.org/drawingml/2006/main" noGrp="1"/>
          </p:cNvSpPr>
          <p:nvPr/>
        </p:nvSpPr>
        <p:spPr>
          <a:xfrm xmlns:a="http://schemas.openxmlformats.org/drawingml/2006/main">
            <a:off x="647700" y="1619250"/>
            <a:ext cx="4572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400" b="1">
                <a:solidFill>
                  <a:srgbClr val="087B74"/>
                </a:solidFill>
                <a:latin typeface="Arial"/>
                <a:ea typeface="Arial"/>
                <a:cs typeface="Arial"/>
              </a:defRPr>
            </a:pPr>
            <a:r>
              <a:rPr sz="8400" b="1">
                <a:solidFill>
                  <a:srgbClr val="087B74"/>
                </a:solidFill>
                <a:latin typeface="Arial"/>
                <a:ea typeface="Arial"/>
                <a:cs typeface="Arial"/>
              </a:rPr>
              <a:t>30%</a:t>
            </a:r>
          </a:p>
        </p:txBody>
      </p:sp>
      <p:sp>
        <p:nvSpPr>
          <p:cNvPr id="5" name="text-4-341">
            <a:extLst xmlns:a="http://schemas.openxmlformats.org/drawingml/2006/main">
              <a:ext uri="{FF2B5EF4-FFF2-40B4-BE49-F238E27FC236}">
                <a16:creationId xmlns:a16="http://schemas.microsoft.com/office/drawing/2014/main" id="{A2DA0D77-524D-4762-8CF4-B425F3F639D8}"/>
              </a:ext>
            </a:extLst>
          </p:cNvPr>
          <p:cNvSpPr>
            <a:spLocks xmlns:a="http://schemas.openxmlformats.org/drawingml/2006/main" noGrp="1"/>
          </p:cNvSpPr>
          <p:nvPr/>
        </p:nvSpPr>
        <p:spPr>
          <a:xfrm xmlns:a="http://schemas.openxmlformats.org/drawingml/2006/main">
            <a:off x="647700" y="3248025"/>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75" b="1">
                <a:solidFill>
                  <a:srgbClr val="152B36"/>
                </a:solidFill>
                <a:latin typeface="Arial"/>
                <a:ea typeface="Arial"/>
                <a:cs typeface="Arial"/>
              </a:defRPr>
            </a:pPr>
            <a:r>
              <a:rPr sz="2775" b="1">
                <a:solidFill>
                  <a:srgbClr val="152B36"/>
                </a:solidFill>
                <a:latin typeface="Arial"/>
                <a:ea typeface="Arial"/>
                <a:cs typeface="Arial"/>
              </a:rPr>
              <a:t>цель снижения активного</a:t>
            </a:r>
          </a:p>
          <a:p xmlns:a="http://schemas.openxmlformats.org/drawingml/2006/main">
            <a:pPr>
              <a:defRPr sz="2775" b="1">
                <a:solidFill>
                  <a:srgbClr val="152B36"/>
                </a:solidFill>
                <a:latin typeface="Arial"/>
                <a:ea typeface="Arial"/>
                <a:cs typeface="Arial"/>
              </a:defRPr>
            </a:pPr>
            <a:r>
              <a:rPr sz="2775" b="1">
                <a:solidFill>
                  <a:srgbClr val="152B36"/>
                </a:solidFill>
                <a:latin typeface="Arial"/>
                <a:ea typeface="Arial"/>
                <a:cs typeface="Arial"/>
              </a:rPr>
              <a:t>времени на один отклик</a:t>
            </a:r>
          </a:p>
        </p:txBody>
      </p:sp>
      <p:sp>
        <p:nvSpPr>
          <p:cNvPr id="6" name="text-5-185">
            <a:extLst xmlns:a="http://schemas.openxmlformats.org/drawingml/2006/main">
              <a:ext uri="{FF2B5EF4-FFF2-40B4-BE49-F238E27FC236}">
                <a16:creationId xmlns:a16="http://schemas.microsoft.com/office/drawing/2014/main" id="{1441A06D-D8A2-476C-9823-5D9C7D9DED53}"/>
              </a:ext>
            </a:extLst>
          </p:cNvPr>
          <p:cNvSpPr>
            <a:spLocks xmlns:a="http://schemas.openxmlformats.org/drawingml/2006/main" noGrp="1"/>
          </p:cNvSpPr>
          <p:nvPr/>
        </p:nvSpPr>
        <p:spPr>
          <a:xfrm xmlns:a="http://schemas.openxmlformats.org/drawingml/2006/main">
            <a:off x="6334125" y="1762125"/>
            <a:ext cx="5238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Сравним обработку сопоставимых</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синтетических откликов вручную</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и через бота.</a:t>
            </a:r>
          </a:p>
          <a:p xmlns:a="http://schemas.openxmlformats.org/drawingml/2006/main">
            <a:r>
              <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Посчитаем время, дополнительные</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вопросы и ошибки карточки.</a:t>
            </a:r>
          </a:p>
        </p:txBody>
      </p:sp>
      <p:sp>
        <p:nvSpPr>
          <p:cNvPr id="7" name="text-6-555">
            <a:extLst xmlns:a="http://schemas.openxmlformats.org/drawingml/2006/main">
              <a:ext uri="{FF2B5EF4-FFF2-40B4-BE49-F238E27FC236}">
                <a16:creationId xmlns:a16="http://schemas.microsoft.com/office/drawing/2014/main" id="{9D7BF602-BD67-488F-805A-7AF3A9E0A9B2}"/>
              </a:ext>
            </a:extLst>
          </p:cNvPr>
          <p:cNvSpPr>
            <a:spLocks xmlns:a="http://schemas.openxmlformats.org/drawingml/2006/main" noGrp="1"/>
          </p:cNvSpPr>
          <p:nvPr/>
        </p:nvSpPr>
        <p:spPr>
          <a:xfrm xmlns:a="http://schemas.openxmlformats.org/drawingml/2006/main">
            <a:off x="647700" y="5286375"/>
            <a:ext cx="10896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51616A"/>
                </a:solidFill>
                <a:latin typeface="Arial"/>
                <a:ea typeface="Arial"/>
                <a:cs typeface="Arial"/>
              </a:defRPr>
            </a:pPr>
            <a:r>
              <a:rPr sz="2100" b="0">
                <a:solidFill>
                  <a:srgbClr val="51616A"/>
                </a:solidFill>
                <a:latin typeface="Arial"/>
                <a:ea typeface="Arial"/>
                <a:cs typeface="Arial"/>
              </a:rPr>
              <a:t>Это цель пилота. Подтверждённого эффекта и клиентского внедрения пока нет.</a:t>
            </a:r>
          </a:p>
        </p:txBody>
      </p:sp>
    </p:spTree>
    <p:extLst>
      <p:ext uri="{BB962C8B-B14F-4D97-AF65-F5344CB8AC3E}">
        <p14:creationId xmlns:p14="http://schemas.microsoft.com/office/powerpoint/2010/main" val="406637672"/>
      </p:ext>
    </p:extLst>
  </p:cSld>
</p:sld>
</file>

<file path=ppt/slides/slide11.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6" name="text-0-55">
            <a:extLst xmlns:a="http://schemas.openxmlformats.org/drawingml/2006/main">
              <a:ext uri="{FF2B5EF4-FFF2-40B4-BE49-F238E27FC236}">
                <a16:creationId xmlns:a16="http://schemas.microsoft.com/office/drawing/2014/main" id="{215AC6F4-545D-4EF8-80AB-4DC6359C4EC9}"/>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Тиражирование после первого пилота</a:t>
            </a:r>
          </a:p>
        </p:txBody>
      </p:sp>
      <p:sp>
        <p:nvSpPr>
          <p:cNvPr id="2" name="text-1-666">
            <a:extLst xmlns:a="http://schemas.openxmlformats.org/drawingml/2006/main">
              <a:ext uri="{FF2B5EF4-FFF2-40B4-BE49-F238E27FC236}">
                <a16:creationId xmlns:a16="http://schemas.microsoft.com/office/drawing/2014/main" id="{16C632DB-9008-4386-B967-BAE682D80EBB}"/>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the_swarm</a:t>
            </a:r>
          </a:p>
        </p:txBody>
      </p:sp>
      <p:sp>
        <p:nvSpPr>
          <p:cNvPr id="3" name="text-2-666">
            <a:extLst xmlns:a="http://schemas.openxmlformats.org/drawingml/2006/main">
              <a:ext uri="{FF2B5EF4-FFF2-40B4-BE49-F238E27FC236}">
                <a16:creationId xmlns:a16="http://schemas.microsoft.com/office/drawing/2014/main" id="{C35318F2-E4FF-4EB4-8E95-A02FB4E617AF}"/>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11</a:t>
            </a:r>
          </a:p>
        </p:txBody>
      </p:sp>
      <p:graphicFrame>
        <p:nvGraphicFramePr>
          <p:cNvPr id="9" name=""/>
          <p:cNvGraphicFramePr/>
          <p:nvPr/>
        </p:nvGraphicFramePr>
        <p:xfrm>
          <a:off xmlns:a="http://schemas.openxmlformats.org/drawingml/2006/main" x="647700" y="1752600"/>
          <a:ext xmlns:a="http://schemas.openxmlformats.org/drawingml/2006/main" cx="10896600" cy="3429000"/>
        </p:xfrm>
        <a:graphic xmlns:a="http://schemas.openxmlformats.org/drawingml/2006/main">
          <a:graphicData uri="http://schemas.openxmlformats.org/drawingml/2006/table">
            <a:tbl>
              <a:tblPr/>
              <a:tblGrid>
                <a:gridCol w="4191000"/>
                <a:gridCol w="6705600"/>
              </a:tblGrid>
              <a:tr h="685800">
                <a:tc>
                  <a:txBody>
                    <a:bodyPr/>
                    <a:lstStyle/>
                    <a:p>
                      <a:r>
                        <a:rPr sz="1950" b="1">
                          <a:solidFill>
                            <a:srgbClr val="FFFFFF"/>
                          </a:solidFill>
                          <a:latin typeface="Arial"/>
                          <a:ea typeface="Arial"/>
                          <a:cs typeface="Arial"/>
                        </a:rPr>
                        <a:t>Следующий контекст</a:t>
                      </a:r>
                    </a:p>
                  </a:txBody>
                  <a:tcPr marL="142875" marR="142875" marT="114300" marB="114300" anchor="ctr">
                    <a:solidFill>
                      <a:srgbClr val="102C37"/>
                    </a:solidFill>
                  </a:tcPr>
                </a:tc>
                <a:tc>
                  <a:txBody>
                    <a:bodyPr/>
                    <a:lstStyle/>
                    <a:p>
                      <a:r>
                        <a:rPr sz="1950" b="1">
                          <a:solidFill>
                            <a:srgbClr val="FFFFFF"/>
                          </a:solidFill>
                          <a:latin typeface="Arial"/>
                          <a:ea typeface="Arial"/>
                          <a:cs typeface="Arial"/>
                        </a:rPr>
                        <a:t>Что нужно адаптировать</a:t>
                      </a:r>
                    </a:p>
                  </a:txBody>
                  <a:tcPr marL="142875" marR="142875" marT="114300" marB="114300" anchor="ctr">
                    <a:solidFill>
                      <a:srgbClr val="102C37"/>
                    </a:solidFill>
                  </a:tcPr>
                </a:tc>
              </a:tr>
              <a:tr h="685800">
                <a:tc>
                  <a:txBody>
                    <a:bodyPr/>
                    <a:lstStyle/>
                    <a:p>
                      <a:r>
                        <a:rPr sz="1950" b="0">
                          <a:solidFill>
                            <a:srgbClr val="152B36"/>
                          </a:solidFill>
                          <a:latin typeface="Arial"/>
                          <a:ea typeface="Arial"/>
                          <a:cs typeface="Arial"/>
                        </a:rPr>
                        <a:t>Другие небольшие IT-команды</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Требования, тесты, правила хранения и доступы</a:t>
                      </a:r>
                    </a:p>
                  </a:txBody>
                  <a:tcPr marL="142875" marR="142875" marT="114300" marB="114300" anchor="ctr">
                    <a:solidFill>
                      <a:srgbClr val="F4F5F1"/>
                    </a:solidFill>
                  </a:tcPr>
                </a:tc>
              </a:tr>
              <a:tr h="685800">
                <a:tc>
                  <a:txBody>
                    <a:bodyPr/>
                    <a:lstStyle/>
                    <a:p>
                      <a:r>
                        <a:rPr sz="1950" b="0">
                          <a:solidFill>
                            <a:srgbClr val="152B36"/>
                          </a:solidFill>
                          <a:latin typeface="Arial"/>
                          <a:ea typeface="Arial"/>
                          <a:cs typeface="Arial"/>
                        </a:rPr>
                        <a:t>QA, поддержка, аналитика</a:t>
                      </a:r>
                    </a:p>
                  </a:txBody>
                  <a:tcPr marL="142875" marR="142875" marT="114300" marB="114300" anchor="ctr">
                    <a:solidFill>
                      <a:srgbClr val="E9EEEA"/>
                    </a:solidFill>
                  </a:tcPr>
                </a:tc>
                <a:tc>
                  <a:txBody>
                    <a:bodyPr/>
                    <a:lstStyle/>
                    <a:p>
                      <a:r>
                        <a:rPr sz="1950" b="0">
                          <a:solidFill>
                            <a:srgbClr val="152B36"/>
                          </a:solidFill>
                          <a:latin typeface="Arial"/>
                          <a:ea typeface="Arial"/>
                          <a:cs typeface="Arial"/>
                        </a:rPr>
                        <a:t>Словарь, вопросы и проверочный корпус</a:t>
                      </a:r>
                    </a:p>
                  </a:txBody>
                  <a:tcPr marL="142875" marR="142875" marT="114300" marB="114300" anchor="ctr">
                    <a:solidFill>
                      <a:srgbClr val="E9EEEA"/>
                    </a:solidFill>
                  </a:tcPr>
                </a:tc>
              </a:tr>
              <a:tr h="685800">
                <a:tc>
                  <a:txBody>
                    <a:bodyPr/>
                    <a:lstStyle/>
                    <a:p>
                      <a:r>
                        <a:rPr sz="1950" b="0">
                          <a:solidFill>
                            <a:srgbClr val="152B36"/>
                          </a:solidFill>
                          <a:latin typeface="Arial"/>
                          <a:ea typeface="Arial"/>
                          <a:cs typeface="Arial"/>
                        </a:rPr>
                        <a:t>Несколько компаний через ATS</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Контракт конкретной ATS, роли и синхронизация</a:t>
                      </a:r>
                    </a:p>
                  </a:txBody>
                  <a:tcPr marL="142875" marR="142875" marT="114300" marB="114300" anchor="ctr">
                    <a:solidFill>
                      <a:srgbClr val="F4F5F1"/>
                    </a:solidFill>
                  </a:tcPr>
                </a:tc>
              </a:tr>
              <a:tr h="685800">
                <a:tc>
                  <a:txBody>
                    <a:bodyPr/>
                    <a:lstStyle/>
                    <a:p>
                      <a:r>
                        <a:rPr sz="1950" b="0">
                          <a:solidFill>
                            <a:srgbClr val="152B36"/>
                          </a:solidFill>
                          <a:latin typeface="Arial"/>
                          <a:ea typeface="Arial"/>
                          <a:cs typeface="Arial"/>
                        </a:rPr>
                        <a:t>Рост нагрузки</a:t>
                      </a:r>
                    </a:p>
                  </a:txBody>
                  <a:tcPr marL="142875" marR="142875" marT="114300" marB="114300" anchor="ctr">
                    <a:solidFill>
                      <a:srgbClr val="E9EEEA"/>
                    </a:solidFill>
                  </a:tcPr>
                </a:tc>
                <a:tc>
                  <a:txBody>
                    <a:bodyPr/>
                    <a:lstStyle/>
                    <a:p>
                      <a:r>
                        <a:rPr sz="1950" b="0">
                          <a:solidFill>
                            <a:srgbClr val="152B36"/>
                          </a:solidFill>
                          <a:latin typeface="Arial"/>
                          <a:ea typeface="Arial"/>
                          <a:cs typeface="Arial"/>
                        </a:rPr>
                        <a:t>PostgreSQL, внешняя очередь и нагрузочные испытания</a:t>
                      </a:r>
                    </a:p>
                  </a:txBody>
                  <a:tcPr marL="142875" marR="142875" marT="114300" marB="114300" anchor="ctr">
                    <a:solidFill>
                      <a:srgbClr val="E9EEEA"/>
                    </a:solidFill>
                  </a:tcPr>
                </a:tc>
              </a:tr>
            </a:tbl>
          </a:graphicData>
        </a:graphic>
      </p:graphicFrame>
      <p:sp>
        <p:nvSpPr>
          <p:cNvPr id="5" name="text-3-572">
            <a:extLst xmlns:a="http://schemas.openxmlformats.org/drawingml/2006/main">
              <a:ext uri="{FF2B5EF4-FFF2-40B4-BE49-F238E27FC236}">
                <a16:creationId xmlns:a16="http://schemas.microsoft.com/office/drawing/2014/main" id="{D5298D17-13A8-445F-8ADE-040859C5784C}"/>
              </a:ext>
            </a:extLst>
          </p:cNvPr>
          <p:cNvSpPr>
            <a:spLocks xmlns:a="http://schemas.openxmlformats.org/drawingml/2006/main" noGrp="1"/>
          </p:cNvSpPr>
          <p:nvPr/>
        </p:nvSpPr>
        <p:spPr>
          <a:xfrm xmlns:a="http://schemas.openxmlformats.org/drawingml/2006/main">
            <a:off x="647700" y="544830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1616A"/>
                </a:solidFill>
                <a:latin typeface="Arial"/>
                <a:ea typeface="Arial"/>
                <a:cs typeface="Arial"/>
              </a:defRPr>
            </a:pPr>
            <a:r>
              <a:rPr sz="1950" b="0">
                <a:solidFill>
                  <a:srgbClr val="51616A"/>
                </a:solidFill>
                <a:latin typeface="Arial"/>
                <a:ea typeface="Arial"/>
                <a:cs typeface="Arial"/>
              </a:rPr>
              <a:t>Гипотеза модели дохода: подписка работодателя.</a:t>
            </a:r>
          </a:p>
          <a:p xmlns:a="http://schemas.openxmlformats.org/drawingml/2006/main">
            <a:pPr>
              <a:defRPr sz="1950" b="0">
                <a:solidFill>
                  <a:srgbClr val="51616A"/>
                </a:solidFill>
                <a:latin typeface="Arial"/>
                <a:ea typeface="Arial"/>
                <a:cs typeface="Arial"/>
              </a:defRPr>
            </a:pPr>
            <a:r>
              <a:rPr sz="1950" b="0">
                <a:solidFill>
                  <a:srgbClr val="51616A"/>
                </a:solidFill>
                <a:latin typeface="Arial"/>
                <a:ea typeface="Arial"/>
                <a:cs typeface="Arial"/>
              </a:rPr>
              <a:t>Готовность платить и стоимость обслуживания ещё предстоит проверить.</a:t>
            </a:r>
          </a:p>
        </p:txBody>
      </p:sp>
    </p:spTree>
    <p:extLst>
      <p:ext uri="{BB962C8B-B14F-4D97-AF65-F5344CB8AC3E}">
        <p14:creationId xmlns:p14="http://schemas.microsoft.com/office/powerpoint/2010/main" val="635497960"/>
      </p:ext>
    </p:extLst>
  </p:cSld>
</p:sld>
</file>

<file path=ppt/slides/slide12.xml><?xml version="1.0" encoding="utf-8"?>
<p:sld xmlns:p="http://schemas.openxmlformats.org/presentationml/2006/main">
  <p:cSld>
    <p:bg>
      <p:bgPr>
        <a:solidFill xmlns:a="http://schemas.openxmlformats.org/drawingml/2006/main">
          <a:srgbClr val="102C37"/>
        </a:solidFill>
      </p:bgPr>
    </p:bg>
    <p:spTree>
      <p:nvGrpSpPr>
        <p:cNvPr id="1" name=""/>
        <p:cNvGrpSpPr/>
        <p:nvPr/>
      </p:nvGrpSpPr>
      <p:grpSpPr>
        <a:xfrm xmlns:a="http://schemas.openxmlformats.org/drawingml/2006/main"/>
      </p:grpSpPr>
      <p:sp>
        <p:nvSpPr>
          <p:cNvPr id="7" name="text-0-55">
            <a:extLst xmlns:a="http://schemas.openxmlformats.org/drawingml/2006/main">
              <a:ext uri="{FF2B5EF4-FFF2-40B4-BE49-F238E27FC236}">
                <a16:creationId xmlns:a16="http://schemas.microsoft.com/office/drawing/2014/main" id="{5426980C-FA99-4E67-9E79-CFE479C4F90E}"/>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the_swarm</a:t>
            </a:r>
          </a:p>
        </p:txBody>
      </p:sp>
      <p:sp>
        <p:nvSpPr>
          <p:cNvPr id="2" name="text-1-666">
            <a:extLst xmlns:a="http://schemas.openxmlformats.org/drawingml/2006/main">
              <a:ext uri="{FF2B5EF4-FFF2-40B4-BE49-F238E27FC236}">
                <a16:creationId xmlns:a16="http://schemas.microsoft.com/office/drawing/2014/main" id="{94AB14FC-A69C-438A-AFBF-4CC6AB6715E1}"/>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B9D5D7"/>
                </a:solidFill>
                <a:latin typeface="Arial"/>
                <a:ea typeface="Arial"/>
                <a:cs typeface="Arial"/>
              </a:defRPr>
            </a:pPr>
            <a:r>
              <a:rPr sz="1350" b="0">
                <a:solidFill>
                  <a:srgbClr val="B9D5D7"/>
                </a:solidFill>
                <a:latin typeface="Arial"/>
                <a:ea typeface="Arial"/>
                <a:cs typeface="Arial"/>
              </a:rPr>
              <a:t>the_swarm</a:t>
            </a:r>
          </a:p>
        </p:txBody>
      </p:sp>
      <p:sp>
        <p:nvSpPr>
          <p:cNvPr id="3" name="text-2-666">
            <a:extLst xmlns:a="http://schemas.openxmlformats.org/drawingml/2006/main">
              <a:ext uri="{FF2B5EF4-FFF2-40B4-BE49-F238E27FC236}">
                <a16:creationId xmlns:a16="http://schemas.microsoft.com/office/drawing/2014/main" id="{BA767C22-3A68-4F5B-9292-CED0C35017B6}"/>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B9D5D7"/>
                </a:solidFill>
                <a:latin typeface="Arial"/>
                <a:ea typeface="Arial"/>
                <a:cs typeface="Arial"/>
              </a:defRPr>
            </a:pPr>
            <a:r>
              <a:rPr sz="1350" b="0">
                <a:solidFill>
                  <a:srgbClr val="B9D5D7"/>
                </a:solidFill>
                <a:latin typeface="Arial"/>
                <a:ea typeface="Arial"/>
                <a:cs typeface="Arial"/>
              </a:rPr>
              <a:t>12</a:t>
            </a:r>
          </a:p>
        </p:txBody>
      </p:sp>
      <p:sp>
        <p:nvSpPr>
          <p:cNvPr id="4" name="text-3-190">
            <a:extLst xmlns:a="http://schemas.openxmlformats.org/drawingml/2006/main">
              <a:ext uri="{FF2B5EF4-FFF2-40B4-BE49-F238E27FC236}">
                <a16:creationId xmlns:a16="http://schemas.microsoft.com/office/drawing/2014/main" id="{765B6049-0B11-477C-A146-CE0EFC7DA8C8}"/>
              </a:ext>
            </a:extLst>
          </p:cNvPr>
          <p:cNvSpPr>
            <a:spLocks xmlns:a="http://schemas.openxmlformats.org/drawingml/2006/main" noGrp="1"/>
          </p:cNvSpPr>
          <p:nvPr/>
        </p:nvSpPr>
        <p:spPr>
          <a:xfrm xmlns:a="http://schemas.openxmlformats.org/drawingml/2006/main">
            <a:off x="647700" y="1809750"/>
            <a:ext cx="1076325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Нармаматов Алим</a:t>
            </a:r>
          </a:p>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Огнева Анастасия</a:t>
            </a:r>
          </a:p>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Шадрина Милана</a:t>
            </a:r>
          </a:p>
        </p:txBody>
      </p:sp>
      <p:sp>
        <p:nvSpPr>
          <p:cNvPr id="5" name="text-4-439">
            <a:extLst xmlns:a="http://schemas.openxmlformats.org/drawingml/2006/main">
              <a:ext uri="{FF2B5EF4-FFF2-40B4-BE49-F238E27FC236}">
                <a16:creationId xmlns:a16="http://schemas.microsoft.com/office/drawing/2014/main" id="{555D1924-5611-42B0-B541-B43D6F0E5E09}"/>
              </a:ext>
            </a:extLst>
          </p:cNvPr>
          <p:cNvSpPr>
            <a:spLocks xmlns:a="http://schemas.openxmlformats.org/drawingml/2006/main" noGrp="1"/>
          </p:cNvSpPr>
          <p:nvPr/>
        </p:nvSpPr>
        <p:spPr>
          <a:xfrm xmlns:a="http://schemas.openxmlformats.org/drawingml/2006/main">
            <a:off x="647700" y="4181475"/>
            <a:ext cx="108108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8AE8CE"/>
                </a:solidFill>
                <a:latin typeface="Arial"/>
                <a:ea typeface="Arial"/>
                <a:cs typeface="Arial"/>
              </a:defRPr>
            </a:pPr>
            <a:r>
              <a:rPr sz="3000" b="1">
                <a:solidFill>
                  <a:srgbClr val="8AE8CE"/>
                </a:solidFill>
                <a:latin typeface="Arial"/>
                <a:ea typeface="Arial"/>
                <a:cs typeface="Arial"/>
              </a:rPr>
              <a:t>Следующий результат: публичный стенд</a:t>
            </a:r>
          </a:p>
          <a:p xmlns:a="http://schemas.openxmlformats.org/drawingml/2006/main">
            <a:pPr>
              <a:defRPr sz="3000" b="1">
                <a:solidFill>
                  <a:srgbClr val="8AE8CE"/>
                </a:solidFill>
                <a:latin typeface="Arial"/>
                <a:ea typeface="Arial"/>
                <a:cs typeface="Arial"/>
              </a:defRPr>
            </a:pPr>
            <a:r>
              <a:rPr sz="3000" b="1">
                <a:solidFill>
                  <a:srgbClr val="8AE8CE"/>
                </a:solidFill>
                <a:latin typeface="Arial"/>
                <a:ea typeface="Arial"/>
                <a:cs typeface="Arial"/>
              </a:rPr>
              <a:t>и измеримый пилот с работодателем</a:t>
            </a:r>
          </a:p>
        </p:txBody>
      </p:sp>
      <p:sp>
        <p:nvSpPr>
          <p:cNvPr id="6" name="text-5-594">
            <a:extLst xmlns:a="http://schemas.openxmlformats.org/drawingml/2006/main">
              <a:ext uri="{FF2B5EF4-FFF2-40B4-BE49-F238E27FC236}">
                <a16:creationId xmlns:a16="http://schemas.microsoft.com/office/drawing/2014/main" id="{D559BE10-CD56-4D95-A7D0-E164DFFEFD30}"/>
              </a:ext>
            </a:extLst>
          </p:cNvPr>
          <p:cNvSpPr>
            <a:spLocks xmlns:a="http://schemas.openxmlformats.org/drawingml/2006/main" noGrp="1"/>
          </p:cNvSpPr>
          <p:nvPr/>
        </p:nvSpPr>
        <p:spPr>
          <a:xfrm xmlns:a="http://schemas.openxmlformats.org/drawingml/2006/main">
            <a:off x="647700" y="56578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Демонстрация: MAX, команда /demo</a:t>
            </a:r>
          </a:p>
        </p:txBody>
      </p:sp>
    </p:spTree>
    <p:extLst>
      <p:ext uri="{BB962C8B-B14F-4D97-AF65-F5344CB8AC3E}">
        <p14:creationId xmlns:p14="http://schemas.microsoft.com/office/powerpoint/2010/main" val="898525200"/>
      </p:ext>
    </p:extLst>
  </p:cSld>
</p:sld>
</file>

<file path=ppt/slides/slide13.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7" name="text-0-55">
            <a:extLst xmlns:a="http://schemas.openxmlformats.org/drawingml/2006/main">
              <a:ext uri="{FF2B5EF4-FFF2-40B4-BE49-F238E27FC236}">
                <a16:creationId xmlns:a16="http://schemas.microsoft.com/office/drawing/2014/main" id="{8E34115E-CE68-4920-9D28-61AA352E6E61}"/>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Объяснимая оценка соответствия</a:t>
            </a:r>
          </a:p>
        </p:txBody>
      </p:sp>
      <p:sp>
        <p:nvSpPr>
          <p:cNvPr id="2" name="text-1-666">
            <a:extLst xmlns:a="http://schemas.openxmlformats.org/drawingml/2006/main">
              <a:ext uri="{FF2B5EF4-FFF2-40B4-BE49-F238E27FC236}">
                <a16:creationId xmlns:a16="http://schemas.microsoft.com/office/drawing/2014/main" id="{DEA2E024-B6C9-4A2C-9C9A-2D7D67CF378F}"/>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Запасной слайд. Алгоритм</a:t>
            </a:r>
          </a:p>
        </p:txBody>
      </p:sp>
      <p:sp>
        <p:nvSpPr>
          <p:cNvPr id="3" name="text-2-666">
            <a:extLst xmlns:a="http://schemas.openxmlformats.org/drawingml/2006/main">
              <a:ext uri="{FF2B5EF4-FFF2-40B4-BE49-F238E27FC236}">
                <a16:creationId xmlns:a16="http://schemas.microsoft.com/office/drawing/2014/main" id="{6750B864-6262-4EC5-96BF-558F987C86C9}"/>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13</a:t>
            </a:r>
          </a:p>
        </p:txBody>
      </p:sp>
      <p:sp>
        <p:nvSpPr>
          <p:cNvPr id="4" name="text-3-171">
            <a:extLst xmlns:a="http://schemas.openxmlformats.org/drawingml/2006/main">
              <a:ext uri="{FF2B5EF4-FFF2-40B4-BE49-F238E27FC236}">
                <a16:creationId xmlns:a16="http://schemas.microsoft.com/office/drawing/2014/main" id="{0A77B3AD-5DD4-452A-BE98-925B3322F694}"/>
              </a:ext>
            </a:extLst>
          </p:cNvPr>
          <p:cNvSpPr>
            <a:spLocks xmlns:a="http://schemas.openxmlformats.org/drawingml/2006/main" noGrp="1"/>
          </p:cNvSpPr>
          <p:nvPr/>
        </p:nvSpPr>
        <p:spPr>
          <a:xfrm xmlns:a="http://schemas.openxmlformats.org/drawingml/2006/main">
            <a:off x="647700" y="1628775"/>
            <a:ext cx="10896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087B74"/>
                </a:solidFill>
                <a:latin typeface="Arial"/>
                <a:ea typeface="Arial"/>
                <a:cs typeface="Arial"/>
              </a:defRPr>
            </a:pPr>
            <a:r>
              <a:rPr sz="3000" b="1">
                <a:solidFill>
                  <a:srgbClr val="087B74"/>
                </a:solidFill>
                <a:latin typeface="Arial"/>
                <a:ea typeface="Arial"/>
                <a:cs typeface="Arial"/>
              </a:rPr>
              <a:t>152 навыка и 368 вариантов написания</a:t>
            </a:r>
          </a:p>
        </p:txBody>
      </p:sp>
      <p:sp>
        <p:nvSpPr>
          <p:cNvPr id="5" name="text-4-275">
            <a:extLst xmlns:a="http://schemas.openxmlformats.org/drawingml/2006/main">
              <a:ext uri="{FF2B5EF4-FFF2-40B4-BE49-F238E27FC236}">
                <a16:creationId xmlns:a16="http://schemas.microsoft.com/office/drawing/2014/main" id="{013F000A-B7FA-40A0-902E-39BEBD94CE15}"/>
              </a:ext>
            </a:extLst>
          </p:cNvPr>
          <p:cNvSpPr>
            <a:spLocks xmlns:a="http://schemas.openxmlformats.org/drawingml/2006/main" noGrp="1"/>
          </p:cNvSpPr>
          <p:nvPr/>
        </p:nvSpPr>
        <p:spPr>
          <a:xfrm xmlns:a="http://schemas.openxmlformats.org/drawingml/2006/main">
            <a:off x="647700" y="2619375"/>
            <a:ext cx="10896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52B36"/>
                </a:solidFill>
                <a:latin typeface="Arial"/>
                <a:ea typeface="Arial"/>
                <a:cs typeface="Arial"/>
              </a:defRPr>
            </a:pPr>
            <a:r>
              <a:rPr sz="2250" b="0">
                <a:solidFill>
                  <a:srgbClr val="152B36"/>
                </a:solidFill>
                <a:latin typeface="Arial"/>
                <a:ea typeface="Arial"/>
                <a:cs typeface="Arial"/>
              </a:rPr>
              <a:t>Прямые совпадения и косвенные связи считаются отдельно.</a:t>
            </a:r>
          </a:p>
          <a:p xmlns:a="http://schemas.openxmlformats.org/drawingml/2006/main">
            <a:pPr>
              <a:defRPr sz="2250" b="0">
                <a:solidFill>
                  <a:srgbClr val="152B36"/>
                </a:solidFill>
                <a:latin typeface="Arial"/>
                <a:ea typeface="Arial"/>
                <a:cs typeface="Arial"/>
              </a:defRPr>
            </a:pPr>
            <a:r>
              <a:rPr sz="2250" b="0">
                <a:solidFill>
                  <a:srgbClr val="152B36"/>
                </a:solidFill>
                <a:latin typeface="Arial"/>
                <a:ea typeface="Arial"/>
                <a:cs typeface="Arial"/>
              </a:rPr>
              <a:t>Обязательные и желательные требования имеют разный вес.</a:t>
            </a:r>
          </a:p>
          <a:p xmlns:a="http://schemas.openxmlformats.org/drawingml/2006/main">
            <a:pPr>
              <a:defRPr sz="2250" b="0">
                <a:solidFill>
                  <a:srgbClr val="152B36"/>
                </a:solidFill>
                <a:latin typeface="Arial"/>
                <a:ea typeface="Arial"/>
                <a:cs typeface="Arial"/>
              </a:defRPr>
            </a:pPr>
            <a:r>
              <a:rPr sz="2250" b="0">
                <a:solidFill>
                  <a:srgbClr val="152B36"/>
                </a:solidFill>
                <a:latin typeface="Arial"/>
                <a:ea typeface="Arial"/>
                <a:cs typeface="Arial"/>
              </a:rPr>
              <a:t>Отрицания и противоречия не приносят баллы.</a:t>
            </a:r>
          </a:p>
        </p:txBody>
      </p:sp>
      <p:sp>
        <p:nvSpPr>
          <p:cNvPr id="6" name="text-5-479">
            <a:extLst xmlns:a="http://schemas.openxmlformats.org/drawingml/2006/main">
              <a:ext uri="{FF2B5EF4-FFF2-40B4-BE49-F238E27FC236}">
                <a16:creationId xmlns:a16="http://schemas.microsoft.com/office/drawing/2014/main" id="{00310A68-DAE1-444E-8C1C-304CFF7E83A2}"/>
              </a:ext>
            </a:extLst>
          </p:cNvPr>
          <p:cNvSpPr>
            <a:spLocks xmlns:a="http://schemas.openxmlformats.org/drawingml/2006/main" noGrp="1"/>
          </p:cNvSpPr>
          <p:nvPr/>
        </p:nvSpPr>
        <p:spPr>
          <a:xfrm xmlns:a="http://schemas.openxmlformats.org/drawingml/2006/main">
            <a:off x="647700" y="4562475"/>
            <a:ext cx="10896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52B36"/>
                </a:solidFill>
                <a:latin typeface="Arial"/>
                <a:ea typeface="Arial"/>
                <a:cs typeface="Arial"/>
              </a:defRPr>
            </a:pPr>
            <a:r>
              <a:rPr sz="2400" b="1">
                <a:solidFill>
                  <a:srgbClr val="152B36"/>
                </a:solidFill>
                <a:latin typeface="Arial"/>
                <a:ea typeface="Arial"/>
                <a:cs typeface="Arial"/>
              </a:rPr>
              <a:t>Основа: адаптация формулы Вадима.</a:t>
            </a:r>
          </a:p>
          <a:p xmlns:a="http://schemas.openxmlformats.org/drawingml/2006/main">
            <a:pPr>
              <a:defRPr sz="2400" b="1">
                <a:solidFill>
                  <a:srgbClr val="152B36"/>
                </a:solidFill>
                <a:latin typeface="Arial"/>
                <a:ea typeface="Arial"/>
                <a:cs typeface="Arial"/>
              </a:defRPr>
            </a:pPr>
            <a:r>
              <a:rPr sz="2400" b="1">
                <a:solidFill>
                  <a:srgbClr val="152B36"/>
                </a:solidFill>
                <a:latin typeface="Arial"/>
                <a:ea typeface="Arial"/>
                <a:cs typeface="Arial"/>
              </a:rPr>
              <a:t>Это детерминированная модель, не обученная нейросеть.</a:t>
            </a:r>
          </a:p>
        </p:txBody>
      </p:sp>
    </p:spTree>
    <p:extLst>
      <p:ext uri="{BB962C8B-B14F-4D97-AF65-F5344CB8AC3E}">
        <p14:creationId xmlns:p14="http://schemas.microsoft.com/office/powerpoint/2010/main" val="399905807"/>
      </p:ext>
    </p:extLst>
  </p:cSld>
</p:sld>
</file>

<file path=ppt/slides/slide14.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6" name="text-0-55">
            <a:extLst xmlns:a="http://schemas.openxmlformats.org/drawingml/2006/main">
              <a:ext uri="{FF2B5EF4-FFF2-40B4-BE49-F238E27FC236}">
                <a16:creationId xmlns:a16="http://schemas.microsoft.com/office/drawing/2014/main" id="{F8650ECC-7A46-45DB-B931-EE561284A22D}"/>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Данные и права доступа</a:t>
            </a:r>
          </a:p>
        </p:txBody>
      </p:sp>
      <p:sp>
        <p:nvSpPr>
          <p:cNvPr id="2" name="text-1-666">
            <a:extLst xmlns:a="http://schemas.openxmlformats.org/drawingml/2006/main">
              <a:ext uri="{FF2B5EF4-FFF2-40B4-BE49-F238E27FC236}">
                <a16:creationId xmlns:a16="http://schemas.microsoft.com/office/drawing/2014/main" id="{70BCF5C6-72BA-4ACD-BB45-E844A760592D}"/>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Запасной слайд. Безопасность</a:t>
            </a:r>
          </a:p>
        </p:txBody>
      </p:sp>
      <p:sp>
        <p:nvSpPr>
          <p:cNvPr id="3" name="text-2-666">
            <a:extLst xmlns:a="http://schemas.openxmlformats.org/drawingml/2006/main">
              <a:ext uri="{FF2B5EF4-FFF2-40B4-BE49-F238E27FC236}">
                <a16:creationId xmlns:a16="http://schemas.microsoft.com/office/drawing/2014/main" id="{4E005120-7C71-45F8-B249-DF774A6992B4}"/>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14</a:t>
            </a:r>
          </a:p>
        </p:txBody>
      </p:sp>
      <p:graphicFrame>
        <p:nvGraphicFramePr>
          <p:cNvPr id="9" name=""/>
          <p:cNvGraphicFramePr/>
          <p:nvPr/>
        </p:nvGraphicFramePr>
        <p:xfrm>
          <a:off xmlns:a="http://schemas.openxmlformats.org/drawingml/2006/main" x="647700" y="1781175"/>
          <a:ext xmlns:a="http://schemas.openxmlformats.org/drawingml/2006/main" cx="10896600" cy="3314700"/>
        </p:xfrm>
        <a:graphic xmlns:a="http://schemas.openxmlformats.org/drawingml/2006/main">
          <a:graphicData uri="http://schemas.openxmlformats.org/drawingml/2006/table">
            <a:tbl>
              <a:tblPr/>
              <a:tblGrid>
                <a:gridCol w="3810000"/>
                <a:gridCol w="7086600"/>
              </a:tblGrid>
              <a:tr h="662940">
                <a:tc>
                  <a:txBody>
                    <a:bodyPr/>
                    <a:lstStyle/>
                    <a:p>
                      <a:r>
                        <a:rPr sz="1950" b="1">
                          <a:solidFill>
                            <a:srgbClr val="FFFFFF"/>
                          </a:solidFill>
                          <a:latin typeface="Arial"/>
                          <a:ea typeface="Arial"/>
                          <a:cs typeface="Arial"/>
                        </a:rPr>
                        <a:t>Механизм</a:t>
                      </a:r>
                    </a:p>
                  </a:txBody>
                  <a:tcPr marL="142875" marR="142875" marT="114300" marB="114300" anchor="ctr">
                    <a:solidFill>
                      <a:srgbClr val="102C37"/>
                    </a:solidFill>
                  </a:tcPr>
                </a:tc>
                <a:tc>
                  <a:txBody>
                    <a:bodyPr/>
                    <a:lstStyle/>
                    <a:p>
                      <a:r>
                        <a:rPr sz="1950" b="1">
                          <a:solidFill>
                            <a:srgbClr val="FFFFFF"/>
                          </a:solidFill>
                          <a:latin typeface="Arial"/>
                          <a:ea typeface="Arial"/>
                          <a:cs typeface="Arial"/>
                        </a:rPr>
                        <a:t>Граница</a:t>
                      </a:r>
                    </a:p>
                  </a:txBody>
                  <a:tcPr marL="142875" marR="142875" marT="114300" marB="114300" anchor="ctr">
                    <a:solidFill>
                      <a:srgbClr val="102C37"/>
                    </a:solidFill>
                  </a:tcPr>
                </a:tc>
              </a:tr>
              <a:tr h="662940">
                <a:tc>
                  <a:txBody>
                    <a:bodyPr/>
                    <a:lstStyle/>
                    <a:p>
                      <a:r>
                        <a:rPr sz="1950" b="0">
                          <a:solidFill>
                            <a:srgbClr val="152B36"/>
                          </a:solidFill>
                          <a:latin typeface="Arial"/>
                          <a:ea typeface="Arial"/>
                          <a:cs typeface="Arial"/>
                        </a:rPr>
                        <a:t>Согласие и отзыв</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Сервер очищает тексты отклика и связанные копии</a:t>
                      </a:r>
                    </a:p>
                  </a:txBody>
                  <a:tcPr marL="142875" marR="142875" marT="114300" marB="114300" anchor="ctr">
                    <a:solidFill>
                      <a:srgbClr val="F4F5F1"/>
                    </a:solidFill>
                  </a:tcPr>
                </a:tc>
              </a:tr>
              <a:tr h="662940">
                <a:tc>
                  <a:txBody>
                    <a:bodyPr/>
                    <a:lstStyle/>
                    <a:p>
                      <a:r>
                        <a:rPr sz="1950" b="0">
                          <a:solidFill>
                            <a:srgbClr val="152B36"/>
                          </a:solidFill>
                          <a:latin typeface="Arial"/>
                          <a:ea typeface="Arial"/>
                          <a:cs typeface="Arial"/>
                        </a:rPr>
                        <a:t>Права работодателя</a:t>
                      </a:r>
                    </a:p>
                  </a:txBody>
                  <a:tcPr marL="142875" marR="142875" marT="114300" marB="114300" anchor="ctr">
                    <a:solidFill>
                      <a:srgbClr val="E9EEEA"/>
                    </a:solidFill>
                  </a:tcPr>
                </a:tc>
                <a:tc>
                  <a:txBody>
                    <a:bodyPr/>
                    <a:lstStyle/>
                    <a:p>
                      <a:r>
                        <a:rPr sz="1950" b="0">
                          <a:solidFill>
                            <a:srgbClr val="152B36"/>
                          </a:solidFill>
                          <a:latin typeface="Arial"/>
                          <a:ea typeface="Arial"/>
                          <a:cs typeface="Arial"/>
                        </a:rPr>
                        <a:t>Только свои вакансии и кандидаты</a:t>
                      </a:r>
                    </a:p>
                  </a:txBody>
                  <a:tcPr marL="142875" marR="142875" marT="114300" marB="114300" anchor="ctr">
                    <a:solidFill>
                      <a:srgbClr val="E9EEEA"/>
                    </a:solidFill>
                  </a:tcPr>
                </a:tc>
              </a:tr>
              <a:tr h="662940">
                <a:tc>
                  <a:txBody>
                    <a:bodyPr/>
                    <a:lstStyle/>
                    <a:p>
                      <a:r>
                        <a:rPr sz="1950" b="0">
                          <a:solidFill>
                            <a:srgbClr val="152B36"/>
                          </a:solidFill>
                          <a:latin typeface="Arial"/>
                          <a:ea typeface="Arial"/>
                          <a:cs typeface="Arial"/>
                        </a:rPr>
                        <a:t>Ключи интеграции</a:t>
                      </a:r>
                    </a:p>
                  </a:txBody>
                  <a:tcPr marL="142875" marR="142875" marT="114300" marB="114300" anchor="ctr">
                    <a:solidFill>
                      <a:srgbClr val="F4F5F1"/>
                    </a:solidFill>
                  </a:tcPr>
                </a:tc>
                <a:tc>
                  <a:txBody>
                    <a:bodyPr/>
                    <a:lstStyle/>
                    <a:p>
                      <a:r>
                        <a:rPr sz="1950" b="0">
                          <a:solidFill>
                            <a:srgbClr val="152B36"/>
                          </a:solidFill>
                          <a:latin typeface="Arial"/>
                          <a:ea typeface="Arial"/>
                          <a:cs typeface="Arial"/>
                        </a:rPr>
                        <a:t>Срок, отзыв, отдельное право на персональные данные</a:t>
                      </a:r>
                    </a:p>
                  </a:txBody>
                  <a:tcPr marL="142875" marR="142875" marT="114300" marB="114300" anchor="ctr">
                    <a:solidFill>
                      <a:srgbClr val="F4F5F1"/>
                    </a:solidFill>
                  </a:tcPr>
                </a:tc>
              </a:tr>
              <a:tr h="662940">
                <a:tc>
                  <a:txBody>
                    <a:bodyPr/>
                    <a:lstStyle/>
                    <a:p>
                      <a:r>
                        <a:rPr sz="1950" b="0">
                          <a:solidFill>
                            <a:srgbClr val="152B36"/>
                          </a:solidFill>
                          <a:latin typeface="Arial"/>
                          <a:ea typeface="Arial"/>
                          <a:cs typeface="Arial"/>
                        </a:rPr>
                        <a:t>GitHub по отдельной кнопке</a:t>
                      </a:r>
                    </a:p>
                  </a:txBody>
                  <a:tcPr marL="142875" marR="142875" marT="114300" marB="114300" anchor="ctr">
                    <a:solidFill>
                      <a:srgbClr val="E9EEEA"/>
                    </a:solidFill>
                  </a:tcPr>
                </a:tc>
                <a:tc>
                  <a:txBody>
                    <a:bodyPr/>
                    <a:lstStyle/>
                    <a:p>
                      <a:r>
                        <a:rPr sz="1950" b="0">
                          <a:solidFill>
                            <a:srgbClr val="152B36"/>
                          </a:solidFill>
                          <a:latin typeface="Arial"/>
                          <a:ea typeface="Arial"/>
                          <a:cs typeface="Arial"/>
                        </a:rPr>
                        <a:t>Профиль, метаданные и README. Без чтения кода</a:t>
                      </a:r>
                    </a:p>
                  </a:txBody>
                  <a:tcPr marL="142875" marR="142875" marT="114300" marB="114300" anchor="ctr">
                    <a:solidFill>
                      <a:srgbClr val="E9EEEA"/>
                    </a:solidFill>
                  </a:tcPr>
                </a:tc>
              </a:tr>
            </a:tbl>
          </a:graphicData>
        </a:graphic>
      </p:graphicFrame>
      <p:sp>
        <p:nvSpPr>
          <p:cNvPr id="5" name="text-3-573">
            <a:extLst xmlns:a="http://schemas.openxmlformats.org/drawingml/2006/main">
              <a:ext uri="{FF2B5EF4-FFF2-40B4-BE49-F238E27FC236}">
                <a16:creationId xmlns:a16="http://schemas.microsoft.com/office/drawing/2014/main" id="{E93C1E5D-B048-464F-9D06-DFBB958E7274}"/>
              </a:ext>
            </a:extLst>
          </p:cNvPr>
          <p:cNvSpPr>
            <a:spLocks xmlns:a="http://schemas.openxmlformats.org/drawingml/2006/main" noGrp="1"/>
          </p:cNvSpPr>
          <p:nvPr/>
        </p:nvSpPr>
        <p:spPr>
          <a:xfrm xmlns:a="http://schemas.openxmlformats.org/drawingml/2006/main">
            <a:off x="647700" y="545782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1616A"/>
                </a:solidFill>
                <a:latin typeface="Arial"/>
                <a:ea typeface="Arial"/>
                <a:cs typeface="Arial"/>
              </a:defRPr>
            </a:pPr>
            <a:r>
              <a:rPr sz="1875" b="0">
                <a:solidFill>
                  <a:srgbClr val="51616A"/>
                </a:solidFill>
                <a:latin typeface="Arial"/>
                <a:ea typeface="Arial"/>
                <a:cs typeface="Arial"/>
              </a:rPr>
              <a:t>Уже доставленные сообщения MAX и резервные копии автоматически не исчезают.</a:t>
            </a:r>
          </a:p>
          <a:p xmlns:a="http://schemas.openxmlformats.org/drawingml/2006/main">
            <a:pPr>
              <a:defRPr sz="1875" b="0">
                <a:solidFill>
                  <a:srgbClr val="51616A"/>
                </a:solidFill>
                <a:latin typeface="Arial"/>
                <a:ea typeface="Arial"/>
                <a:cs typeface="Arial"/>
              </a:defRPr>
            </a:pPr>
            <a:r>
              <a:rPr sz="1875" b="0">
                <a:solidFill>
                  <a:srgbClr val="51616A"/>
                </a:solidFill>
                <a:latin typeface="Arial"/>
                <a:ea typeface="Arial"/>
                <a:cs typeface="Arial"/>
              </a:rPr>
              <a:t>До согласования оператора данных пилот использует синтетику.</a:t>
            </a:r>
          </a:p>
        </p:txBody>
      </p:sp>
    </p:spTree>
    <p:extLst>
      <p:ext uri="{BB962C8B-B14F-4D97-AF65-F5344CB8AC3E}">
        <p14:creationId xmlns:p14="http://schemas.microsoft.com/office/powerpoint/2010/main" val="1712745607"/>
      </p:ext>
    </p:extLst>
  </p:cSld>
</p:sld>
</file>

<file path=ppt/slides/slide15.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7" name="text-0-55">
            <a:extLst xmlns:a="http://schemas.openxmlformats.org/drawingml/2006/main">
              <a:ext uri="{FF2B5EF4-FFF2-40B4-BE49-F238E27FC236}">
                <a16:creationId xmlns:a16="http://schemas.microsoft.com/office/drawing/2014/main" id="{E854EE8D-CB04-445B-B299-F47B44A306F8}"/>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Условия сдачи по FAQ</a:t>
            </a:r>
          </a:p>
        </p:txBody>
      </p:sp>
      <p:sp>
        <p:nvSpPr>
          <p:cNvPr id="2" name="text-1-666">
            <a:extLst xmlns:a="http://schemas.openxmlformats.org/drawingml/2006/main">
              <a:ext uri="{FF2B5EF4-FFF2-40B4-BE49-F238E27FC236}">
                <a16:creationId xmlns:a16="http://schemas.microsoft.com/office/drawing/2014/main" id="{9F6A6480-9678-4955-86A7-94277D5B2C23}"/>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Запасной слайд. Допуск</a:t>
            </a:r>
          </a:p>
        </p:txBody>
      </p:sp>
      <p:sp>
        <p:nvSpPr>
          <p:cNvPr id="3" name="text-2-666">
            <a:extLst xmlns:a="http://schemas.openxmlformats.org/drawingml/2006/main">
              <a:ext uri="{FF2B5EF4-FFF2-40B4-BE49-F238E27FC236}">
                <a16:creationId xmlns:a16="http://schemas.microsoft.com/office/drawing/2014/main" id="{9747572E-FFDE-4FD6-9024-A00549EFF0F5}"/>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15</a:t>
            </a:r>
          </a:p>
        </p:txBody>
      </p:sp>
      <p:sp>
        <p:nvSpPr>
          <p:cNvPr id="4" name="text-3-164">
            <a:extLst xmlns:a="http://schemas.openxmlformats.org/drawingml/2006/main">
              <a:ext uri="{FF2B5EF4-FFF2-40B4-BE49-F238E27FC236}">
                <a16:creationId xmlns:a16="http://schemas.microsoft.com/office/drawing/2014/main" id="{F6262F37-2663-459C-8F3A-DCEB0EF80B8D}"/>
              </a:ext>
            </a:extLst>
          </p:cNvPr>
          <p:cNvSpPr>
            <a:spLocks xmlns:a="http://schemas.openxmlformats.org/drawingml/2006/main" noGrp="1"/>
          </p:cNvSpPr>
          <p:nvPr/>
        </p:nvSpPr>
        <p:spPr>
          <a:xfrm xmlns:a="http://schemas.openxmlformats.org/drawingml/2006/main">
            <a:off x="647700" y="1562100"/>
            <a:ext cx="108966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75" b="1">
                <a:solidFill>
                  <a:srgbClr val="087B74"/>
                </a:solidFill>
                <a:latin typeface="Arial"/>
                <a:ea typeface="Arial"/>
                <a:cs typeface="Arial"/>
              </a:defRPr>
            </a:pPr>
            <a:r>
              <a:rPr sz="3675" b="1">
                <a:solidFill>
                  <a:srgbClr val="087B74"/>
                </a:solidFill>
                <a:latin typeface="Arial"/>
                <a:ea typeface="Arial"/>
                <a:cs typeface="Arial"/>
              </a:rPr>
              <a:t>30 сентября, 12:00 МСК</a:t>
            </a:r>
          </a:p>
        </p:txBody>
      </p:sp>
      <p:sp>
        <p:nvSpPr>
          <p:cNvPr id="5" name="text-4-273">
            <a:extLst xmlns:a="http://schemas.openxmlformats.org/drawingml/2006/main">
              <a:ext uri="{FF2B5EF4-FFF2-40B4-BE49-F238E27FC236}">
                <a16:creationId xmlns:a16="http://schemas.microsoft.com/office/drawing/2014/main" id="{D42BA660-FFB2-4153-B2FB-287AFB3CD0CA}"/>
              </a:ext>
            </a:extLst>
          </p:cNvPr>
          <p:cNvSpPr>
            <a:spLocks xmlns:a="http://schemas.openxmlformats.org/drawingml/2006/main" noGrp="1"/>
          </p:cNvSpPr>
          <p:nvPr/>
        </p:nvSpPr>
        <p:spPr>
          <a:xfrm xmlns:a="http://schemas.openxmlformats.org/drawingml/2006/main">
            <a:off x="647700" y="2600325"/>
            <a:ext cx="108966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52B36"/>
                </a:solidFill>
                <a:latin typeface="Arial"/>
                <a:ea typeface="Arial"/>
                <a:cs typeface="Arial"/>
              </a:defRPr>
            </a:pPr>
            <a:r>
              <a:rPr sz="2250" b="0">
                <a:solidFill>
                  <a:srgbClr val="152B36"/>
                </a:solidFill>
                <a:latin typeface="Arial"/>
                <a:ea typeface="Arial"/>
                <a:cs typeface="Arial"/>
              </a:rPr>
              <a:t>Публичный HTTPS и доступность бота весь период проверки.</a:t>
            </a:r>
          </a:p>
          <a:p xmlns:a="http://schemas.openxmlformats.org/drawingml/2006/main">
            <a:pPr>
              <a:defRPr sz="2250" b="0">
                <a:solidFill>
                  <a:srgbClr val="152B36"/>
                </a:solidFill>
                <a:latin typeface="Arial"/>
                <a:ea typeface="Arial"/>
                <a:cs typeface="Arial"/>
              </a:defRPr>
            </a:pPr>
            <a:r>
              <a:rPr sz="2250" b="0">
                <a:solidFill>
                  <a:srgbClr val="152B36"/>
                </a:solidFill>
                <a:latin typeface="Arial"/>
                <a:ea typeface="Arial"/>
                <a:cs typeface="Arial"/>
              </a:rPr>
              <a:t>Фиксированная версия кода, Docker, OpenAPI и DATA-API.</a:t>
            </a:r>
          </a:p>
          <a:p xmlns:a="http://schemas.openxmlformats.org/drawingml/2006/main">
            <a:pPr>
              <a:defRPr sz="2250" b="0">
                <a:solidFill>
                  <a:srgbClr val="152B36"/>
                </a:solidFill>
                <a:latin typeface="Arial"/>
                <a:ea typeface="Arial"/>
                <a:cs typeface="Arial"/>
              </a:defRPr>
            </a:pPr>
            <a:r>
              <a:rPr sz="2250" b="0">
                <a:solidFill>
                  <a:srgbClr val="152B36"/>
                </a:solidFill>
                <a:latin typeface="Arial"/>
                <a:ea typeface="Arial"/>
                <a:cs typeface="Arial"/>
              </a:rPr>
              <a:t>Закрытый комплект тестовых доступов для экспертов.</a:t>
            </a:r>
          </a:p>
        </p:txBody>
      </p:sp>
      <p:sp>
        <p:nvSpPr>
          <p:cNvPr id="6" name="text-5-478">
            <a:extLst xmlns:a="http://schemas.openxmlformats.org/drawingml/2006/main">
              <a:ext uri="{FF2B5EF4-FFF2-40B4-BE49-F238E27FC236}">
                <a16:creationId xmlns:a16="http://schemas.microsoft.com/office/drawing/2014/main" id="{D24F3242-125E-44E7-BA2D-613C3AC911E3}"/>
              </a:ext>
            </a:extLst>
          </p:cNvPr>
          <p:cNvSpPr>
            <a:spLocks xmlns:a="http://schemas.openxmlformats.org/drawingml/2006/main" noGrp="1"/>
          </p:cNvSpPr>
          <p:nvPr/>
        </p:nvSpPr>
        <p:spPr>
          <a:xfrm xmlns:a="http://schemas.openxmlformats.org/drawingml/2006/main">
            <a:off x="647700" y="4552950"/>
            <a:ext cx="108966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52B36"/>
                </a:solidFill>
                <a:latin typeface="Arial"/>
                <a:ea typeface="Arial"/>
                <a:cs typeface="Arial"/>
              </a:defRPr>
            </a:pPr>
            <a:r>
              <a:rPr sz="2250" b="1">
                <a:solidFill>
                  <a:srgbClr val="152B36"/>
                </a:solidFill>
                <a:latin typeface="Arial"/>
                <a:ea typeface="Arial"/>
                <a:cs typeface="Arial"/>
              </a:rPr>
              <a:t>До сдачи требуется разъяснение организаторов</a:t>
            </a:r>
          </a:p>
          <a:p xmlns:a="http://schemas.openxmlformats.org/drawingml/2006/main">
            <a:pPr>
              <a:defRPr sz="2250" b="1">
                <a:solidFill>
                  <a:srgbClr val="152B36"/>
                </a:solidFill>
                <a:latin typeface="Arial"/>
                <a:ea typeface="Arial"/>
                <a:cs typeface="Arial"/>
              </a:defRPr>
            </a:pPr>
            <a:r>
              <a:rPr sz="2250" b="1">
                <a:solidFill>
                  <a:srgbClr val="152B36"/>
                </a:solidFill>
                <a:latin typeface="Arial"/>
                <a:ea typeface="Arial"/>
                <a:cs typeface="Arial"/>
              </a:rPr>
              <a:t>по объёму AI-помощи и повторному использованию основы Вадима.</a:t>
            </a:r>
          </a:p>
        </p:txBody>
      </p:sp>
    </p:spTree>
    <p:extLst>
      <p:ext uri="{BB962C8B-B14F-4D97-AF65-F5344CB8AC3E}">
        <p14:creationId xmlns:p14="http://schemas.microsoft.com/office/powerpoint/2010/main" val="1991649805"/>
      </p:ext>
    </p:extLst>
  </p:cSld>
</p:sld>
</file>

<file path=ppt/slides/slide16.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6" name="text-0-55">
            <a:extLst xmlns:a="http://schemas.openxmlformats.org/drawingml/2006/main">
              <a:ext uri="{FF2B5EF4-FFF2-40B4-BE49-F238E27FC236}">
                <a16:creationId xmlns:a16="http://schemas.microsoft.com/office/drawing/2014/main" id="{1D0F6864-991F-4BD3-9102-151982B35ACE}"/>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Контракт интеграции и GigaChat</a:t>
            </a:r>
          </a:p>
        </p:txBody>
      </p:sp>
      <p:sp>
        <p:nvSpPr>
          <p:cNvPr id="2" name="text-1-666">
            <a:extLst xmlns:a="http://schemas.openxmlformats.org/drawingml/2006/main">
              <a:ext uri="{FF2B5EF4-FFF2-40B4-BE49-F238E27FC236}">
                <a16:creationId xmlns:a16="http://schemas.microsoft.com/office/drawing/2014/main" id="{A803AC4C-F916-4D4F-AFDA-9B3F0612EA16}"/>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Запасной слайд. API</a:t>
            </a:r>
          </a:p>
        </p:txBody>
      </p:sp>
      <p:sp>
        <p:nvSpPr>
          <p:cNvPr id="3" name="text-2-666">
            <a:extLst xmlns:a="http://schemas.openxmlformats.org/drawingml/2006/main">
              <a:ext uri="{FF2B5EF4-FFF2-40B4-BE49-F238E27FC236}">
                <a16:creationId xmlns:a16="http://schemas.microsoft.com/office/drawing/2014/main" id="{48F4AF94-471D-40F2-8E77-A2229DF57391}"/>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16</a:t>
            </a:r>
          </a:p>
        </p:txBody>
      </p:sp>
      <p:graphicFrame>
        <p:nvGraphicFramePr>
          <p:cNvPr id="9" name=""/>
          <p:cNvGraphicFramePr/>
          <p:nvPr/>
        </p:nvGraphicFramePr>
        <p:xfrm>
          <a:off xmlns:a="http://schemas.openxmlformats.org/drawingml/2006/main" x="647700" y="1762125"/>
          <a:ext xmlns:a="http://schemas.openxmlformats.org/drawingml/2006/main" cx="10896600" cy="3276600"/>
        </p:xfrm>
        <a:graphic xmlns:a="http://schemas.openxmlformats.org/drawingml/2006/main">
          <a:graphicData uri="http://schemas.openxmlformats.org/drawingml/2006/table">
            <a:tbl>
              <a:tblPr/>
              <a:tblGrid>
                <a:gridCol w="3571875"/>
                <a:gridCol w="7324725"/>
              </a:tblGrid>
              <a:tr h="655320">
                <a:tc>
                  <a:txBody>
                    <a:bodyPr/>
                    <a:lstStyle/>
                    <a:p>
                      <a:r>
                        <a:rPr sz="1725" b="1">
                          <a:solidFill>
                            <a:srgbClr val="FFFFFF"/>
                          </a:solidFill>
                          <a:latin typeface="Arial"/>
                          <a:ea typeface="Arial"/>
                          <a:cs typeface="Arial"/>
                        </a:rPr>
                        <a:t>Операция</a:t>
                      </a:r>
                    </a:p>
                  </a:txBody>
                  <a:tcPr marL="142875" marR="142875" marT="114300" marB="114300" anchor="ctr">
                    <a:solidFill>
                      <a:srgbClr val="102C37"/>
                    </a:solidFill>
                  </a:tcPr>
                </a:tc>
                <a:tc>
                  <a:txBody>
                    <a:bodyPr/>
                    <a:lstStyle/>
                    <a:p>
                      <a:r>
                        <a:rPr sz="1725" b="1">
                          <a:solidFill>
                            <a:srgbClr val="FFFFFF"/>
                          </a:solidFill>
                          <a:latin typeface="Arial"/>
                          <a:ea typeface="Arial"/>
                          <a:cs typeface="Arial"/>
                        </a:rPr>
                        <a:t>Метод и путь после /api/integrations/v1</a:t>
                      </a:r>
                    </a:p>
                  </a:txBody>
                  <a:tcPr marL="142875" marR="142875" marT="114300" marB="114300" anchor="ctr">
                    <a:solidFill>
                      <a:srgbClr val="102C37"/>
                    </a:solidFill>
                  </a:tcPr>
                </a:tc>
              </a:tr>
              <a:tr h="655320">
                <a:tc>
                  <a:txBody>
                    <a:bodyPr/>
                    <a:lstStyle/>
                    <a:p>
                      <a:r>
                        <a:rPr sz="1725" b="0">
                          <a:solidFill>
                            <a:srgbClr val="152B36"/>
                          </a:solidFill>
                          <a:latin typeface="Arial"/>
                          <a:ea typeface="Arial"/>
                          <a:cs typeface="Arial"/>
                        </a:rPr>
                        <a:t>Вакансия по ID компании</a:t>
                      </a:r>
                    </a:p>
                  </a:txBody>
                  <a:tcPr marL="142875" marR="142875" marT="114300" marB="114300" anchor="ctr">
                    <a:solidFill>
                      <a:srgbClr val="F4F5F1"/>
                    </a:solidFill>
                  </a:tcPr>
                </a:tc>
                <a:tc>
                  <a:txBody>
                    <a:bodyPr/>
                    <a:lstStyle/>
                    <a:p>
                      <a:r>
                        <a:rPr sz="1725" b="0">
                          <a:solidFill>
                            <a:srgbClr val="152B36"/>
                          </a:solidFill>
                          <a:latin typeface="Arial"/>
                          <a:ea typeface="Arial"/>
                          <a:cs typeface="Arial"/>
                        </a:rPr>
                        <a:t>PUT /jobs/by-external/{source}/{external_id}</a:t>
                      </a:r>
                    </a:p>
                  </a:txBody>
                  <a:tcPr marL="142875" marR="142875" marT="114300" marB="114300" anchor="ctr">
                    <a:solidFill>
                      <a:srgbClr val="F4F5F1"/>
                    </a:solidFill>
                  </a:tcPr>
                </a:tc>
              </a:tr>
              <a:tr h="655320">
                <a:tc>
                  <a:txBody>
                    <a:bodyPr/>
                    <a:lstStyle/>
                    <a:p>
                      <a:r>
                        <a:rPr sz="1725" b="0">
                          <a:solidFill>
                            <a:srgbClr val="152B36"/>
                          </a:solidFill>
                          <a:latin typeface="Arial"/>
                          <a:ea typeface="Arial"/>
                          <a:cs typeface="Arial"/>
                        </a:rPr>
                        <a:t>PDF кандидата</a:t>
                      </a:r>
                    </a:p>
                  </a:txBody>
                  <a:tcPr marL="142875" marR="142875" marT="114300" marB="114300" anchor="ctr">
                    <a:solidFill>
                      <a:srgbClr val="E9EEEA"/>
                    </a:solidFill>
                  </a:tcPr>
                </a:tc>
                <a:tc>
                  <a:txBody>
                    <a:bodyPr/>
                    <a:lstStyle/>
                    <a:p>
                      <a:r>
                        <a:rPr sz="1725" b="0">
                          <a:solidFill>
                            <a:srgbClr val="152B36"/>
                          </a:solidFill>
                          <a:latin typeface="Arial"/>
                          <a:ea typeface="Arial"/>
                          <a:cs typeface="Arial"/>
                        </a:rPr>
                        <a:t>GET /applications/{id}/resume.pdf</a:t>
                      </a:r>
                    </a:p>
                  </a:txBody>
                  <a:tcPr marL="142875" marR="142875" marT="114300" marB="114300" anchor="ctr">
                    <a:solidFill>
                      <a:srgbClr val="E9EEEA"/>
                    </a:solidFill>
                  </a:tcPr>
                </a:tc>
              </a:tr>
              <a:tr h="655320">
                <a:tc>
                  <a:txBody>
                    <a:bodyPr/>
                    <a:lstStyle/>
                    <a:p>
                      <a:r>
                        <a:rPr sz="1725" b="0">
                          <a:solidFill>
                            <a:srgbClr val="152B36"/>
                          </a:solidFill>
                          <a:latin typeface="Arial"/>
                          <a:ea typeface="Arial"/>
                          <a:cs typeface="Arial"/>
                        </a:rPr>
                        <a:t>Этап и заметки</a:t>
                      </a:r>
                    </a:p>
                  </a:txBody>
                  <a:tcPr marL="142875" marR="142875" marT="114300" marB="114300" anchor="ctr">
                    <a:solidFill>
                      <a:srgbClr val="F4F5F1"/>
                    </a:solidFill>
                  </a:tcPr>
                </a:tc>
                <a:tc>
                  <a:txBody>
                    <a:bodyPr/>
                    <a:lstStyle/>
                    <a:p>
                      <a:r>
                        <a:rPr sz="1725" b="0">
                          <a:solidFill>
                            <a:srgbClr val="152B36"/>
                          </a:solidFill>
                          <a:latin typeface="Arial"/>
                          <a:ea typeface="Arial"/>
                          <a:cs typeface="Arial"/>
                        </a:rPr>
                        <a:t>PATCH /applications/{id}/review</a:t>
                      </a:r>
                    </a:p>
                  </a:txBody>
                  <a:tcPr marL="142875" marR="142875" marT="114300" marB="114300" anchor="ctr">
                    <a:solidFill>
                      <a:srgbClr val="F4F5F1"/>
                    </a:solidFill>
                  </a:tcPr>
                </a:tc>
              </a:tr>
              <a:tr h="655320">
                <a:tc>
                  <a:txBody>
                    <a:bodyPr/>
                    <a:lstStyle/>
                    <a:p>
                      <a:r>
                        <a:rPr sz="1725" b="0">
                          <a:solidFill>
                            <a:srgbClr val="152B36"/>
                          </a:solidFill>
                          <a:latin typeface="Arial"/>
                          <a:ea typeface="Arial"/>
                          <a:cs typeface="Arial"/>
                        </a:rPr>
                        <a:t>Черновик теста</a:t>
                      </a:r>
                    </a:p>
                  </a:txBody>
                  <a:tcPr marL="142875" marR="142875" marT="114300" marB="114300" anchor="ctr">
                    <a:solidFill>
                      <a:srgbClr val="E9EEEA"/>
                    </a:solidFill>
                  </a:tcPr>
                </a:tc>
                <a:tc>
                  <a:txBody>
                    <a:bodyPr/>
                    <a:lstStyle/>
                    <a:p>
                      <a:r>
                        <a:rPr sz="1725" b="0">
                          <a:solidFill>
                            <a:srgbClr val="152B36"/>
                          </a:solidFill>
                          <a:latin typeface="Arial"/>
                          <a:ea typeface="Arial"/>
                          <a:cs typeface="Arial"/>
                        </a:rPr>
                        <a:t>POST /tests/ai-draft</a:t>
                      </a:r>
                    </a:p>
                  </a:txBody>
                  <a:tcPr marL="142875" marR="142875" marT="114300" marB="114300" anchor="ctr">
                    <a:solidFill>
                      <a:srgbClr val="E9EEEA"/>
                    </a:solidFill>
                  </a:tcPr>
                </a:tc>
              </a:tr>
            </a:tbl>
          </a:graphicData>
        </a:graphic>
      </p:graphicFrame>
      <p:sp>
        <p:nvSpPr>
          <p:cNvPr id="5" name="text-3-570">
            <a:extLst xmlns:a="http://schemas.openxmlformats.org/drawingml/2006/main">
              <a:ext uri="{FF2B5EF4-FFF2-40B4-BE49-F238E27FC236}">
                <a16:creationId xmlns:a16="http://schemas.microsoft.com/office/drawing/2014/main" id="{F55C5F91-BAC3-4337-B53D-B53586678655}"/>
              </a:ext>
            </a:extLst>
          </p:cNvPr>
          <p:cNvSpPr>
            <a:spLocks xmlns:a="http://schemas.openxmlformats.org/drawingml/2006/main" noGrp="1"/>
          </p:cNvSpPr>
          <p:nvPr/>
        </p:nvSpPr>
        <p:spPr>
          <a:xfrm xmlns:a="http://schemas.openxmlformats.org/drawingml/2006/main">
            <a:off x="647700" y="5429250"/>
            <a:ext cx="10896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87B74"/>
                </a:solidFill>
                <a:latin typeface="Arial"/>
                <a:ea typeface="Arial"/>
                <a:cs typeface="Arial"/>
              </a:defRPr>
            </a:pPr>
            <a:r>
              <a:rPr sz="1950" b="1">
                <a:solidFill>
                  <a:srgbClr val="087B74"/>
                </a:solidFill>
                <a:latin typeface="Arial"/>
                <a:ea typeface="Arial"/>
                <a:cs typeface="Arial"/>
              </a:rPr>
              <a:t>GigaChat: до 3 запросов на работодателя и 10 на базу за 24 часа.</a:t>
            </a:r>
          </a:p>
          <a:p xmlns:a="http://schemas.openxmlformats.org/drawingml/2006/main">
            <a:pPr>
              <a:defRPr sz="1950" b="1">
                <a:solidFill>
                  <a:srgbClr val="087B74"/>
                </a:solidFill>
                <a:latin typeface="Arial"/>
                <a:ea typeface="Arial"/>
                <a:cs typeface="Arial"/>
              </a:defRPr>
            </a:pPr>
            <a:r>
              <a:rPr sz="1950" b="1">
                <a:solidFill>
                  <a:srgbClr val="087B74"/>
                </a:solidFill>
                <a:latin typeface="Arial"/>
                <a:ea typeface="Arial"/>
                <a:cs typeface="Arial"/>
              </a:rPr>
              <a:t>Кэш 24 часа. Резерв до вызова. Без автоматических повторов.</a:t>
            </a:r>
          </a:p>
        </p:txBody>
      </p:sp>
    </p:spTree>
    <p:extLst>
      <p:ext uri="{BB962C8B-B14F-4D97-AF65-F5344CB8AC3E}">
        <p14:creationId xmlns:p14="http://schemas.microsoft.com/office/powerpoint/2010/main" val="1280309616"/>
      </p:ext>
    </p:extLst>
  </p:cSld>
</p:sld>
</file>

<file path=ppt/slides/slide17.xml><?xml version="1.0" encoding="utf-8"?>
<p:sld xmlns:p="http://schemas.openxmlformats.org/presentationml/2006/main">
  <p:cSld>
    <p:bg>
      <p:bgPr>
        <a:solidFill xmlns:a="http://schemas.openxmlformats.org/drawingml/2006/main">
          <a:srgbClr val="F4F5F1"/>
        </a:solidFill>
      </p:bgPr>
    </p:bg>
    <p:spTree>
      <p:nvGrpSpPr>
        <p:cNvPr id="1" name=""/>
        <p:cNvGrpSpPr/>
        <p:nvPr/>
      </p:nvGrpSpPr>
      <p:grpSpPr>
        <a:xfrm xmlns:a="http://schemas.openxmlformats.org/drawingml/2006/main"/>
      </p:grpSpPr>
      <p:sp>
        <p:nvSpPr>
          <p:cNvPr id="11" name="text-0-55">
            <a:extLst xmlns:a="http://schemas.openxmlformats.org/drawingml/2006/main">
              <a:ext uri="{FF2B5EF4-FFF2-40B4-BE49-F238E27FC236}">
                <a16:creationId xmlns:a16="http://schemas.microsoft.com/office/drawing/2014/main" id="{694DB31E-5963-422A-9FDC-8C34589695AF}"/>
              </a:ext>
            </a:extLst>
          </p:cNvPr>
          <p:cNvSpPr>
            <a:spLocks xmlns:a="http://schemas.openxmlformats.org/drawingml/2006/main" noGrp="1"/>
          </p:cNvSpPr>
          <p:nvPr/>
        </p:nvSpPr>
        <p:spPr>
          <a:xfrm xmlns:a="http://schemas.openxmlformats.org/drawingml/2006/main">
            <a:off x="647700" y="523875"/>
            <a:ext cx="1081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52B36"/>
                </a:solidFill>
                <a:latin typeface="Arial"/>
                <a:ea typeface="Arial"/>
                <a:cs typeface="Arial"/>
              </a:defRPr>
            </a:pPr>
            <a:r>
              <a:rPr sz="3300" b="1">
                <a:solidFill>
                  <a:srgbClr val="152B36"/>
                </a:solidFill>
                <a:latin typeface="Arial"/>
                <a:ea typeface="Arial"/>
                <a:cs typeface="Arial"/>
              </a:rPr>
              <a:t>Источники и статус интеграций</a:t>
            </a:r>
          </a:p>
        </p:txBody>
      </p:sp>
      <p:sp>
        <p:nvSpPr>
          <p:cNvPr id="2" name="text-1-666">
            <a:extLst xmlns:a="http://schemas.openxmlformats.org/drawingml/2006/main">
              <a:ext uri="{FF2B5EF4-FFF2-40B4-BE49-F238E27FC236}">
                <a16:creationId xmlns:a16="http://schemas.microsoft.com/office/drawing/2014/main" id="{3B28349E-DDF7-40FA-8EB3-48E01CCEB24F}"/>
              </a:ext>
            </a:extLst>
          </p:cNvPr>
          <p:cNvSpPr>
            <a:spLocks xmlns:a="http://schemas.openxmlformats.org/drawingml/2006/main" noGrp="1"/>
          </p:cNvSpPr>
          <p:nvPr/>
        </p:nvSpPr>
        <p:spPr>
          <a:xfrm xmlns:a="http://schemas.openxmlformats.org/drawingml/2006/main">
            <a:off x="647700" y="63436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Запасной слайд. Источники</a:t>
            </a:r>
          </a:p>
        </p:txBody>
      </p:sp>
      <p:sp>
        <p:nvSpPr>
          <p:cNvPr id="3" name="text-2-666">
            <a:extLst xmlns:a="http://schemas.openxmlformats.org/drawingml/2006/main">
              <a:ext uri="{FF2B5EF4-FFF2-40B4-BE49-F238E27FC236}">
                <a16:creationId xmlns:a16="http://schemas.microsoft.com/office/drawing/2014/main" id="{B5963945-32FB-4268-9D50-249C18050488}"/>
              </a:ext>
            </a:extLst>
          </p:cNvPr>
          <p:cNvSpPr>
            <a:spLocks xmlns:a="http://schemas.openxmlformats.org/drawingml/2006/main" noGrp="1"/>
          </p:cNvSpPr>
          <p:nvPr/>
        </p:nvSpPr>
        <p:spPr>
          <a:xfrm xmlns:a="http://schemas.openxmlformats.org/drawingml/2006/main">
            <a:off x="11125200" y="63436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1616A"/>
                </a:solidFill>
                <a:latin typeface="Arial"/>
                <a:ea typeface="Arial"/>
                <a:cs typeface="Arial"/>
              </a:defRPr>
            </a:pPr>
            <a:r>
              <a:rPr sz="1350" b="0">
                <a:solidFill>
                  <a:srgbClr val="51616A"/>
                </a:solidFill>
                <a:latin typeface="Arial"/>
                <a:ea typeface="Arial"/>
                <a:cs typeface="Arial"/>
              </a:rPr>
              <a:t>17</a:t>
            </a:r>
          </a:p>
        </p:txBody>
      </p:sp>
      <p:sp>
        <p:nvSpPr>
          <p:cNvPr id="4" name="text-3-171">
            <a:extLst xmlns:a="http://schemas.openxmlformats.org/drawingml/2006/main">
              <a:ext uri="{FF2B5EF4-FFF2-40B4-BE49-F238E27FC236}">
                <a16:creationId xmlns:a16="http://schemas.microsoft.com/office/drawing/2014/main" id="{C7257FC4-1D74-47BB-A1E7-9ADEDFC53150}"/>
              </a:ext>
            </a:extLst>
          </p:cNvPr>
          <p:cNvSpPr>
            <a:spLocks xmlns:a="http://schemas.openxmlformats.org/drawingml/2006/main" noGrp="1"/>
          </p:cNvSpPr>
          <p:nvPr/>
        </p:nvSpPr>
        <p:spPr>
          <a:xfrm xmlns:a="http://schemas.openxmlformats.org/drawingml/2006/main">
            <a:off x="647700" y="16287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87B74"/>
                </a:solidFill>
                <a:latin typeface="Arial"/>
                <a:ea typeface="Arial"/>
                <a:cs typeface="Arial"/>
              </a:defRPr>
            </a:pPr>
            <a:r>
              <a:rPr sz="2325" b="1">
                <a:solidFill>
                  <a:srgbClr val="087B74"/>
                </a:solidFill>
                <a:latin typeface="Arial"/>
                <a:ea typeface="Arial"/>
                <a:cs typeface="Arial"/>
              </a:rPr>
              <a:t>Материалы хакатона</a:t>
            </a:r>
          </a:p>
        </p:txBody>
      </p:sp>
      <p:sp>
        <p:nvSpPr>
          <p:cNvPr id="5" name="text-4-238">
            <a:extLst xmlns:a="http://schemas.openxmlformats.org/drawingml/2006/main">
              <a:ext uri="{FF2B5EF4-FFF2-40B4-BE49-F238E27FC236}">
                <a16:creationId xmlns:a16="http://schemas.microsoft.com/office/drawing/2014/main" id="{75D172D8-0E4E-4564-A009-2FDAC54F9816}"/>
              </a:ext>
            </a:extLst>
          </p:cNvPr>
          <p:cNvSpPr>
            <a:spLocks xmlns:a="http://schemas.openxmlformats.org/drawingml/2006/main" noGrp="1"/>
          </p:cNvSpPr>
          <p:nvPr/>
        </p:nvSpPr>
        <p:spPr>
          <a:xfrm xmlns:a="http://schemas.openxmlformats.org/drawingml/2006/main">
            <a:off x="647700" y="2266950"/>
            <a:ext cx="523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52B36"/>
                </a:solidFill>
                <a:latin typeface="Arial"/>
                <a:ea typeface="Arial"/>
                <a:cs typeface="Arial"/>
              </a:defRPr>
            </a:pPr>
            <a:r>
              <a:rPr sz="2100" b="0">
                <a:solidFill>
                  <a:srgbClr val="152B36"/>
                </a:solidFill>
                <a:latin typeface="Arial"/>
                <a:ea typeface="Arial"/>
                <a:cs typeface="Arial"/>
              </a:rPr>
              <a:t>«Эффективный бизнес», стр. 7-14</a:t>
            </a:r>
          </a:p>
          <a:p xmlns:a="http://schemas.openxmlformats.org/drawingml/2006/main">
            <a:pPr>
              <a:defRPr sz="2100" b="0">
                <a:solidFill>
                  <a:srgbClr val="152B36"/>
                </a:solidFill>
                <a:latin typeface="Arial"/>
                <a:ea typeface="Arial"/>
                <a:cs typeface="Arial"/>
              </a:defRPr>
            </a:pPr>
            <a:r>
              <a:rPr sz="2100" b="0">
                <a:solidFill>
                  <a:srgbClr val="152B36"/>
                </a:solidFill>
                <a:latin typeface="Arial"/>
                <a:ea typeface="Arial"/>
                <a:cs typeface="Arial"/>
              </a:rPr>
              <a:t>«Общий FAQ», 3 страницы</a:t>
            </a:r>
          </a:p>
        </p:txBody>
      </p:sp>
      <p:sp>
        <p:nvSpPr>
          <p:cNvPr id="6" name="text-5-401">
            <a:extLst xmlns:a="http://schemas.openxmlformats.org/drawingml/2006/main">
              <a:ext uri="{FF2B5EF4-FFF2-40B4-BE49-F238E27FC236}">
                <a16:creationId xmlns:a16="http://schemas.microsoft.com/office/drawing/2014/main" id="{C0002C10-FC7F-4570-8F32-0F6E0D7ACC1C}"/>
              </a:ext>
            </a:extLst>
          </p:cNvPr>
          <p:cNvSpPr>
            <a:spLocks xmlns:a="http://schemas.openxmlformats.org/drawingml/2006/main" noGrp="1"/>
          </p:cNvSpPr>
          <p:nvPr/>
        </p:nvSpPr>
        <p:spPr>
          <a:xfrm xmlns:a="http://schemas.openxmlformats.org/drawingml/2006/main">
            <a:off x="647700" y="38195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87B74"/>
                </a:solidFill>
                <a:latin typeface="Arial"/>
                <a:ea typeface="Arial"/>
                <a:cs typeface="Arial"/>
              </a:defRPr>
            </a:pPr>
            <a:r>
              <a:rPr sz="2325" b="1">
                <a:solidFill>
                  <a:srgbClr val="087B74"/>
                </a:solidFill>
                <a:latin typeface="Arial"/>
                <a:ea typeface="Arial"/>
                <a:cs typeface="Arial"/>
              </a:rPr>
              <a:t>Реализованный продукт</a:t>
            </a:r>
          </a:p>
        </p:txBody>
      </p:sp>
      <p:sp>
        <p:nvSpPr>
          <p:cNvPr id="7" name="text-6-467">
            <a:extLst xmlns:a="http://schemas.openxmlformats.org/drawingml/2006/main">
              <a:ext uri="{FF2B5EF4-FFF2-40B4-BE49-F238E27FC236}">
                <a16:creationId xmlns:a16="http://schemas.microsoft.com/office/drawing/2014/main" id="{4A149946-1A65-4487-9F22-45E02616D95B}"/>
              </a:ext>
            </a:extLst>
          </p:cNvPr>
          <p:cNvSpPr>
            <a:spLocks xmlns:a="http://schemas.openxmlformats.org/drawingml/2006/main" noGrp="1"/>
          </p:cNvSpPr>
          <p:nvPr/>
        </p:nvSpPr>
        <p:spPr>
          <a:xfrm xmlns:a="http://schemas.openxmlformats.org/drawingml/2006/main">
            <a:off x="647700" y="444817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52B36"/>
                </a:solidFill>
                <a:latin typeface="Arial"/>
                <a:ea typeface="Arial"/>
                <a:cs typeface="Arial"/>
              </a:defRPr>
            </a:pPr>
            <a:r>
              <a:rPr sz="2025" b="0">
                <a:solidFill>
                  <a:srgbClr val="152B36"/>
                </a:solidFill>
                <a:latin typeface="Arial"/>
                <a:ea typeface="Arial"/>
                <a:cs typeface="Arial"/>
              </a:rPr>
              <a:t>Код, тесты, OpenAPI и отчёты проверок</a:t>
            </a:r>
          </a:p>
          <a:p xmlns:a="http://schemas.openxmlformats.org/drawingml/2006/main">
            <a:pPr>
              <a:defRPr sz="2025" b="0">
                <a:solidFill>
                  <a:srgbClr val="152B36"/>
                </a:solidFill>
                <a:latin typeface="Arial"/>
                <a:ea typeface="Arial"/>
                <a:cs typeface="Arial"/>
              </a:defRPr>
            </a:pPr>
            <a:r>
              <a:rPr sz="2025" b="0">
                <a:solidFill>
                  <a:srgbClr val="152B36"/>
                </a:solidFill>
                <a:latin typeface="Arial"/>
                <a:ea typeface="Arial"/>
                <a:cs typeface="Arial"/>
              </a:rPr>
              <a:t>в репозитории TheEdfog/max-hackathon-bot</a:t>
            </a:r>
          </a:p>
        </p:txBody>
      </p:sp>
      <p:sp>
        <p:nvSpPr>
          <p:cNvPr id="8" name="text-7-171">
            <a:extLst xmlns:a="http://schemas.openxmlformats.org/drawingml/2006/main">
              <a:ext uri="{FF2B5EF4-FFF2-40B4-BE49-F238E27FC236}">
                <a16:creationId xmlns:a16="http://schemas.microsoft.com/office/drawing/2014/main" id="{41B0D6B3-EFCA-45E2-90F7-2D905389DC2F}"/>
              </a:ext>
            </a:extLst>
          </p:cNvPr>
          <p:cNvSpPr>
            <a:spLocks xmlns:a="http://schemas.openxmlformats.org/drawingml/2006/main" noGrp="1"/>
          </p:cNvSpPr>
          <p:nvPr/>
        </p:nvSpPr>
        <p:spPr>
          <a:xfrm xmlns:a="http://schemas.openxmlformats.org/drawingml/2006/main">
            <a:off x="6496050" y="16287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87B74"/>
                </a:solidFill>
                <a:latin typeface="Arial"/>
                <a:ea typeface="Arial"/>
                <a:cs typeface="Arial"/>
              </a:defRPr>
            </a:pPr>
            <a:r>
              <a:rPr sz="2325" b="1">
                <a:solidFill>
                  <a:srgbClr val="087B74"/>
                </a:solidFill>
                <a:latin typeface="Arial"/>
                <a:ea typeface="Arial"/>
                <a:cs typeface="Arial"/>
              </a:rPr>
              <a:t>Документированные сервисы</a:t>
            </a:r>
          </a:p>
        </p:txBody>
      </p:sp>
      <p:sp>
        <p:nvSpPr>
          <p:cNvPr id="9" name="text-8-238">
            <a:extLst xmlns:a="http://schemas.openxmlformats.org/drawingml/2006/main">
              <a:ext uri="{FF2B5EF4-FFF2-40B4-BE49-F238E27FC236}">
                <a16:creationId xmlns:a16="http://schemas.microsoft.com/office/drawing/2014/main" id="{EAF2B4C8-102A-4F77-A8C1-0F227EA27107}"/>
              </a:ext>
            </a:extLst>
          </p:cNvPr>
          <p:cNvSpPr>
            <a:spLocks xmlns:a="http://schemas.openxmlformats.org/drawingml/2006/main" noGrp="1"/>
          </p:cNvSpPr>
          <p:nvPr/>
        </p:nvSpPr>
        <p:spPr>
          <a:xfrm xmlns:a="http://schemas.openxmlformats.org/drawingml/2006/main">
            <a:off x="6496050" y="226695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MAX Bot API</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Яндекс Диск REST API</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GitHub REST API</a:t>
            </a:r>
          </a:p>
          <a:p xmlns:a="http://schemas.openxmlformats.org/drawingml/2006/main">
            <a:pPr>
              <a:defRPr sz="2175" b="0">
                <a:solidFill>
                  <a:srgbClr val="152B36"/>
                </a:solidFill>
                <a:latin typeface="Arial"/>
                <a:ea typeface="Arial"/>
                <a:cs typeface="Arial"/>
              </a:defRPr>
            </a:pPr>
            <a:r>
              <a:rPr sz="2175" b="0">
                <a:solidFill>
                  <a:srgbClr val="152B36"/>
                </a:solidFill>
                <a:latin typeface="Arial"/>
                <a:ea typeface="Arial"/>
                <a:cs typeface="Arial"/>
              </a:rPr>
              <a:t>Cloud.ru Foundation Models</a:t>
            </a:r>
          </a:p>
        </p:txBody>
      </p:sp>
      <p:sp>
        <p:nvSpPr>
          <p:cNvPr id="10" name="text-9-482">
            <a:extLst xmlns:a="http://schemas.openxmlformats.org/drawingml/2006/main">
              <a:ext uri="{FF2B5EF4-FFF2-40B4-BE49-F238E27FC236}">
                <a16:creationId xmlns:a16="http://schemas.microsoft.com/office/drawing/2014/main" id="{AAC98CA8-8B27-4537-8E7C-EC34681AF93F}"/>
              </a:ext>
            </a:extLst>
          </p:cNvPr>
          <p:cNvSpPr>
            <a:spLocks xmlns:a="http://schemas.openxmlformats.org/drawingml/2006/main" noGrp="1"/>
          </p:cNvSpPr>
          <p:nvPr/>
        </p:nvSpPr>
        <p:spPr>
          <a:xfrm xmlns:a="http://schemas.openxmlformats.org/drawingml/2006/main">
            <a:off x="6496050" y="4591050"/>
            <a:ext cx="5048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51616A"/>
                </a:solidFill>
                <a:latin typeface="Arial"/>
                <a:ea typeface="Arial"/>
                <a:cs typeface="Arial"/>
              </a:defRPr>
            </a:pPr>
            <a:r>
              <a:rPr sz="2025" b="0">
                <a:solidFill>
                  <a:srgbClr val="51616A"/>
                </a:solidFill>
                <a:latin typeface="Arial"/>
                <a:ea typeface="Arial"/>
                <a:cs typeface="Arial"/>
              </a:rPr>
              <a:t>ATS: модельный адаптер.</a:t>
            </a:r>
          </a:p>
          <a:p xmlns:a="http://schemas.openxmlformats.org/drawingml/2006/main">
            <a:pPr>
              <a:defRPr sz="2025" b="0">
                <a:solidFill>
                  <a:srgbClr val="51616A"/>
                </a:solidFill>
                <a:latin typeface="Arial"/>
                <a:ea typeface="Arial"/>
                <a:cs typeface="Arial"/>
              </a:defRPr>
            </a:pPr>
            <a:r>
              <a:rPr sz="2025" b="0">
                <a:solidFill>
                  <a:srgbClr val="51616A"/>
                </a:solidFill>
                <a:latin typeface="Arial"/>
                <a:ea typeface="Arial"/>
                <a:cs typeface="Arial"/>
              </a:rPr>
              <a:t>Google Drive и Mail.ru: отключены.</a:t>
            </a:r>
          </a:p>
          <a:p xmlns:a="http://schemas.openxmlformats.org/drawingml/2006/main">
            <a:pPr>
              <a:defRPr sz="2025" b="0">
                <a:solidFill>
                  <a:srgbClr val="51616A"/>
                </a:solidFill>
                <a:latin typeface="Arial"/>
                <a:ea typeface="Arial"/>
                <a:cs typeface="Arial"/>
              </a:defRPr>
            </a:pPr>
            <a:r>
              <a:rPr sz="2025" b="0">
                <a:solidFill>
                  <a:srgbClr val="51616A"/>
                </a:solidFill>
                <a:latin typeface="Arial"/>
                <a:ea typeface="Arial"/>
                <a:cs typeface="Arial"/>
              </a:rPr>
              <a:t>Результатов клиентского пилота нет.</a:t>
            </a:r>
          </a:p>
        </p:txBody>
      </p:sp>
    </p:spTree>
    <p:extLst>
      <p:ext uri="{BB962C8B-B14F-4D97-AF65-F5344CB8AC3E}">
        <p14:creationId xmlns:p14="http://schemas.microsoft.com/office/powerpoint/2010/main" val="2080626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2026-09-27T22:00:32.1180000Z</dcterms:created>
  <dcterms:modified xsi:type="dcterms:W3CDTF">2026-09-27T22:00:32.1180000Z</dcterms:modified>
</coreProperties>
</file>